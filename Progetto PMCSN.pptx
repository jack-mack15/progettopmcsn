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4" r:id="rId5"/>
    <p:sldId id="301" r:id="rId6"/>
    <p:sldId id="296" r:id="rId7"/>
    <p:sldId id="297" r:id="rId8"/>
    <p:sldId id="295" r:id="rId9"/>
    <p:sldId id="298" r:id="rId10"/>
    <p:sldId id="302" r:id="rId11"/>
    <p:sldId id="299" r:id="rId12"/>
    <p:sldId id="270" r:id="rId13"/>
    <p:sldId id="271" r:id="rId14"/>
    <p:sldId id="272" r:id="rId15"/>
    <p:sldId id="300" r:id="rId16"/>
    <p:sldId id="275" r:id="rId17"/>
    <p:sldId id="278" r:id="rId18"/>
    <p:sldId id="281" r:id="rId19"/>
    <p:sldId id="282" r:id="rId20"/>
    <p:sldId id="276" r:id="rId21"/>
    <p:sldId id="279" r:id="rId22"/>
    <p:sldId id="280" r:id="rId23"/>
    <p:sldId id="283" r:id="rId24"/>
    <p:sldId id="284" r:id="rId25"/>
    <p:sldId id="277" r:id="rId26"/>
    <p:sldId id="285" r:id="rId27"/>
    <p:sldId id="286" r:id="rId28"/>
    <p:sldId id="287" r:id="rId29"/>
    <p:sldId id="289" r:id="rId30"/>
    <p:sldId id="288" r:id="rId31"/>
    <p:sldId id="303" r:id="rId3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B34B6E-2558-E23F-93DE-9770237A323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66AB6F3-27C0-AD34-EA66-9FB985AA0F9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834A73-8C6D-FF27-0C22-37AEE33F442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02E2E0-3ADD-4B19-B8EA-741F2E3A6DC8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6D2946-A716-C432-926C-F359C2BEDC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81CEED-E899-661C-05E6-A293F7F213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F415150-D469-4FF8-85B3-C447E3946D07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52038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C3BD49-AAFD-C56A-5A6C-92E48364821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F3F27E-A93B-6557-360D-B062A62333E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32CFC5-93E5-4BBB-FAA2-90A84BB774A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1B6B96-B896-4465-81A6-3CFA5FAE48A8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4EB789-3FA6-3321-A4B8-8B2BA8D8E74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D824CC-F240-0402-4791-203B23FA25D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7DC611-D1FF-46E0-B096-8DE41C878EEF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87096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416426-82AD-FF02-FF1B-6DFB3C20A0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7D35344-200B-D5BE-3C83-A6AA279707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D1703D-39AF-6C73-99BB-0F1F5EB3252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0A2EA77-1CCD-4EB4-91F7-D568D5B65786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448F0D-C83C-AEC4-0833-C8D65416560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7A8746-0141-5A10-780F-791800D8534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085166-F110-4D21-8AAD-8DE25836F500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77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B9DF75-078A-335F-C6AF-2A394347FB8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033699-638B-76E9-D853-5731001E689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9E4B157-C264-008F-76C2-C596E748B36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CE753FA-EEC1-36B1-D5A2-41EF57C26D5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625E47-8E81-4869-A9BE-67FF6EAF4996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FC70570-710A-E2B8-E69A-18F69FB763C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5F25E3B-76E0-C353-1799-79BFB7F8DC8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66E5590-FE52-4D20-A8F8-18271F508F37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5535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5C4E9C-33D5-8071-4B1E-0076742FCE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036327-A89F-92F0-F5AE-33B7A3702C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A7D3C8C-A224-D989-FC9D-CDC591266EE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A5D0C5F-756F-A1F6-745D-2DEBE0D9365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87A6F0D-DBB2-B5DD-AACA-DCA848673EEF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B7A06F2-0260-09A7-F319-DF3EBC39B40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827B7F-3340-4A83-808C-5E4E0CEE41B4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DDB2816-7E22-749D-A9F5-177EB1FAE4C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D022C0A-5B85-66D2-E1F5-4B959BF79CE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5DB9EC-E81D-4351-A704-50908015DA38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20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856429-3006-BDE6-A259-7242077E7E2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F39D0C9-9FE8-6196-4835-32C2230426C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83BAEA-A6A0-476F-A5DC-285F0A46D3CA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2F890A7-1044-3051-0012-1C846CC40E6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6EF2FC-EE81-76F3-A65B-B6D3F75F33D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967D3A-16E2-4741-85F5-776EDD9DB927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894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FB35007-B35F-2CB8-7FFD-41789EAB4EF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683BC0-2CD1-418D-997A-F2D64EB5894D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10104FC-604A-8F1D-C4B5-8B21EF9B8D1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9D4467-81A4-EF41-47A4-8E1287DE26E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84F001D-8D83-4226-9D03-0B880A5194AA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325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FE75E2-30B5-60B6-E4DD-664553A8A5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C8342E-1D3E-DAFF-E129-A258776855D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B71C572-49E0-712B-C4A0-9E370DB5C0F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7C4CF90-3CBF-F21F-2E6F-2CB6D494E6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492A29F-8273-4FAD-AB7B-47B160F46432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4B5C03D-36F2-95A9-CD28-C5483C32AE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AA078D-232A-AB79-3A74-7A71FD4332D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535E32-DE93-4255-99CB-92BAE94A42DD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593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C114C4-3E20-4DBC-A94F-E72AB02E5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D200301-8DC7-FAC7-7BE6-E6519F3C9CDA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9857A40-6355-7E94-344F-AD3D5A2573A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2C99661-4F52-9D3C-E5DD-585D2D4BBD8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97AA48D-BDD6-4128-9EB7-70290AE6BF80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8DF5A86-A66D-F2CD-BA44-66E5D1F51BC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680A927-E837-BDFC-30FD-294BEDE4F0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2D1336-1D9D-48E0-9FC6-B02006FB5FB7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6789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7AE565-318E-787E-0DDC-3898CA4073A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30AA746-41A8-6B94-E1BC-45A7224D592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9FB063-20B5-E056-6561-030CD8E9815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CC970A-9954-49DF-81DE-CBB4558476AE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1A364C-6365-48AA-FF66-77746809ADF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F7F981-A9E2-233C-D9BE-F6E3B48CC5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0DDB33-C4F0-4394-A83F-C2039419F3FD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484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6C592EC-DBF4-83AB-C979-129D6B476B81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44F8B2B-E36E-F52F-A534-F4B20814157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57004-B621-8B1A-1827-475E2778834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B9F56F-E878-4F46-B45D-8075BBCA76AF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A6589F-3CBC-A4E1-2183-D138A4F65B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ABD905-966D-DB3A-7B6E-8678BE563D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443827-A29C-4B0D-9A94-5C9D2B884312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3993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7E53EFB-CBBE-169D-CC25-55A6035F8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A80987-F970-A323-309D-4843F8716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01FA81B-A7F7-11E8-BE95-BE3B044F3D7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2B5F889B-EA75-4573-82D3-2C5F2A97FC6B}" type="datetime1">
              <a:rPr lang="it-IT"/>
              <a:pPr lvl="0"/>
              <a:t>03/02/2026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F13C04-3E93-F180-1655-C9BD6442B65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FCFF3F-F2BD-5A56-E7CD-B26579044F0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10157910-ABA4-44DD-BDAF-DD4F481E7D8B}" type="slidenum"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it-IT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it-IT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924AB9A2-23AA-A15C-C8B2-E75F334AC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555831D-5F60-44C0-7F15-2CE38E9D0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799991">
            <a:off x="0" y="-22705"/>
            <a:ext cx="12191996" cy="4374132"/>
          </a:xfrm>
          <a:prstGeom prst="rect">
            <a:avLst/>
          </a:prstGeom>
          <a:gradFill>
            <a:gsLst>
              <a:gs pos="0">
                <a:srgbClr val="104862"/>
              </a:gs>
              <a:gs pos="100000">
                <a:srgbClr val="000000"/>
              </a:gs>
            </a:gsLst>
            <a:lin ang="150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C671D40-0DCB-732F-D5B7-C0C9F106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5400013">
            <a:off x="3908721" y="-3931847"/>
            <a:ext cx="4374553" cy="12191996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104862">
                  <a:alpha val="52000"/>
                </a:srgbClr>
              </a:gs>
            </a:gsLst>
            <a:lin ang="2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0324146-11F0-825D-F23A-F602898D6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5400013">
            <a:off x="4136695" y="-3703873"/>
            <a:ext cx="4374123" cy="11736479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00000">
                  <a:alpha val="37000"/>
                </a:srgbClr>
              </a:gs>
            </a:gsLst>
            <a:lin ang="7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5D6F2A47-1948-AA3E-F367-AA08923DE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9" y="-22686"/>
            <a:ext cx="8542489" cy="4374123"/>
          </a:xfrm>
          <a:prstGeom prst="rect">
            <a:avLst/>
          </a:prstGeom>
          <a:gradFill>
            <a:gsLst>
              <a:gs pos="0">
                <a:srgbClr val="0B3041">
                  <a:alpha val="0"/>
                </a:srgbClr>
              </a:gs>
              <a:gs pos="100000">
                <a:srgbClr val="000000">
                  <a:alpha val="25000"/>
                </a:srgbClr>
              </a:gs>
            </a:gsLst>
            <a:lin ang="186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943DBADC-321E-B551-89AF-26F539E31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2508964">
            <a:off x="5945436" y="-1032047"/>
            <a:ext cx="4990145" cy="44391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990147"/>
              <a:gd name="f7" fmla="val 4439131"/>
              <a:gd name="f8" fmla="val 2229378"/>
              <a:gd name="f9" fmla="val 917384"/>
              <a:gd name="f10" fmla="val 910814"/>
              <a:gd name="f11" fmla="val 4434219"/>
              <a:gd name="f12" fmla="val 354557"/>
              <a:gd name="f13" fmla="val 3975154"/>
              <a:gd name="f14" fmla="val 3280421"/>
              <a:gd name="f15" fmla="val 2502877"/>
              <a:gd name="f16" fmla="val 1120576"/>
              <a:gd name="f17" fmla="val 3712390"/>
              <a:gd name="f18" fmla="val 4721520"/>
              <a:gd name="f19" fmla="val 857941"/>
              <a:gd name="f20" fmla="val 4954904"/>
              <a:gd name="f21" fmla="val 1998460"/>
              <a:gd name="f22" fmla="+- 0 0 -90"/>
              <a:gd name="f23" fmla="*/ f3 1 4990147"/>
              <a:gd name="f24" fmla="*/ f4 1 4439131"/>
              <a:gd name="f25" fmla="val f5"/>
              <a:gd name="f26" fmla="val f6"/>
              <a:gd name="f27" fmla="val f7"/>
              <a:gd name="f28" fmla="*/ f22 f0 1"/>
              <a:gd name="f29" fmla="+- f27 0 f25"/>
              <a:gd name="f30" fmla="+- f26 0 f25"/>
              <a:gd name="f31" fmla="*/ f28 1 f2"/>
              <a:gd name="f32" fmla="*/ f30 1 4990147"/>
              <a:gd name="f33" fmla="*/ f29 1 4439131"/>
              <a:gd name="f34" fmla="*/ 4990147 f30 1"/>
              <a:gd name="f35" fmla="*/ 2229378 f29 1"/>
              <a:gd name="f36" fmla="*/ 917384 f30 1"/>
              <a:gd name="f37" fmla="*/ 4439131 f29 1"/>
              <a:gd name="f38" fmla="*/ 910814 f30 1"/>
              <a:gd name="f39" fmla="*/ 4434219 f29 1"/>
              <a:gd name="f40" fmla="*/ 0 f30 1"/>
              <a:gd name="f41" fmla="*/ 2502877 f29 1"/>
              <a:gd name="f42" fmla="*/ 2502877 f30 1"/>
              <a:gd name="f43" fmla="*/ 0 f29 1"/>
              <a:gd name="f44" fmla="*/ 4954904 f30 1"/>
              <a:gd name="f45" fmla="*/ 1998460 f29 1"/>
              <a:gd name="f46" fmla="+- f31 0 f1"/>
              <a:gd name="f47" fmla="*/ f34 1 4990147"/>
              <a:gd name="f48" fmla="*/ f35 1 4439131"/>
              <a:gd name="f49" fmla="*/ f36 1 4990147"/>
              <a:gd name="f50" fmla="*/ f37 1 4439131"/>
              <a:gd name="f51" fmla="*/ f38 1 4990147"/>
              <a:gd name="f52" fmla="*/ f39 1 4439131"/>
              <a:gd name="f53" fmla="*/ f40 1 4990147"/>
              <a:gd name="f54" fmla="*/ f41 1 4439131"/>
              <a:gd name="f55" fmla="*/ f42 1 4990147"/>
              <a:gd name="f56" fmla="*/ f43 1 4439131"/>
              <a:gd name="f57" fmla="*/ f44 1 4990147"/>
              <a:gd name="f58" fmla="*/ f45 1 4439131"/>
              <a:gd name="f59" fmla="*/ f25 1 f32"/>
              <a:gd name="f60" fmla="*/ f26 1 f32"/>
              <a:gd name="f61" fmla="*/ f25 1 f33"/>
              <a:gd name="f62" fmla="*/ f27 1 f33"/>
              <a:gd name="f63" fmla="*/ f47 1 f32"/>
              <a:gd name="f64" fmla="*/ f48 1 f33"/>
              <a:gd name="f65" fmla="*/ f49 1 f32"/>
              <a:gd name="f66" fmla="*/ f50 1 f33"/>
              <a:gd name="f67" fmla="*/ f51 1 f32"/>
              <a:gd name="f68" fmla="*/ f52 1 f33"/>
              <a:gd name="f69" fmla="*/ f53 1 f32"/>
              <a:gd name="f70" fmla="*/ f54 1 f33"/>
              <a:gd name="f71" fmla="*/ f55 1 f32"/>
              <a:gd name="f72" fmla="*/ f56 1 f33"/>
              <a:gd name="f73" fmla="*/ f57 1 f32"/>
              <a:gd name="f74" fmla="*/ f58 1 f33"/>
              <a:gd name="f75" fmla="*/ f59 f23 1"/>
              <a:gd name="f76" fmla="*/ f60 f23 1"/>
              <a:gd name="f77" fmla="*/ f62 f24 1"/>
              <a:gd name="f78" fmla="*/ f61 f24 1"/>
              <a:gd name="f79" fmla="*/ f63 f23 1"/>
              <a:gd name="f80" fmla="*/ f64 f24 1"/>
              <a:gd name="f81" fmla="*/ f65 f23 1"/>
              <a:gd name="f82" fmla="*/ f66 f24 1"/>
              <a:gd name="f83" fmla="*/ f67 f23 1"/>
              <a:gd name="f84" fmla="*/ f68 f24 1"/>
              <a:gd name="f85" fmla="*/ f69 f23 1"/>
              <a:gd name="f86" fmla="*/ f70 f24 1"/>
              <a:gd name="f87" fmla="*/ f71 f23 1"/>
              <a:gd name="f88" fmla="*/ f72 f24 1"/>
              <a:gd name="f89" fmla="*/ f73 f23 1"/>
              <a:gd name="f90" fmla="*/ f74 f2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9" y="f80"/>
              </a:cxn>
              <a:cxn ang="f46">
                <a:pos x="f81" y="f82"/>
              </a:cxn>
              <a:cxn ang="f46">
                <a:pos x="f83" y="f84"/>
              </a:cxn>
              <a:cxn ang="f46">
                <a:pos x="f85" y="f86"/>
              </a:cxn>
              <a:cxn ang="f46">
                <a:pos x="f87" y="f88"/>
              </a:cxn>
              <a:cxn ang="f46">
                <a:pos x="f89" y="f90"/>
              </a:cxn>
            </a:cxnLst>
            <a:rect l="f75" t="f78" r="f76" b="f77"/>
            <a:pathLst>
              <a:path w="4990147" h="4439131">
                <a:moveTo>
                  <a:pt x="f6" y="f8"/>
                </a:moveTo>
                <a:lnTo>
                  <a:pt x="f9" y="f7"/>
                </a:lnTo>
                <a:lnTo>
                  <a:pt x="f10" y="f11"/>
                </a:lnTo>
                <a:cubicBezTo>
                  <a:pt x="f12" y="f13"/>
                  <a:pt x="f5" y="f14"/>
                  <a:pt x="f5" y="f15"/>
                </a:cubicBezTo>
                <a:cubicBezTo>
                  <a:pt x="f5" y="f16"/>
                  <a:pt x="f16" y="f5"/>
                  <a:pt x="f15" y="f5"/>
                </a:cubicBezTo>
                <a:cubicBezTo>
                  <a:pt x="f17" y="f5"/>
                  <a:pt x="f18" y="f19"/>
                  <a:pt x="f20" y="f21"/>
                </a:cubicBezTo>
                <a:close/>
              </a:path>
            </a:pathLst>
          </a:custGeom>
          <a:gradFill>
            <a:gsLst>
              <a:gs pos="0">
                <a:srgbClr val="156082">
                  <a:alpha val="22000"/>
                </a:srgbClr>
              </a:gs>
              <a:gs pos="100000">
                <a:srgbClr val="46B1E1">
                  <a:alpha val="2000"/>
                </a:srgbClr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E5BDE4AC-FCDC-257F-EF25-FA9205B72A0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14824" y="735104"/>
            <a:ext cx="10053763" cy="2928466"/>
          </a:xfrm>
        </p:spPr>
        <p:txBody>
          <a:bodyPr anchorCtr="0"/>
          <a:lstStyle/>
          <a:p>
            <a:pPr lvl="0" algn="l"/>
            <a:r>
              <a:rPr lang="it-IT" sz="4800" dirty="0">
                <a:solidFill>
                  <a:srgbClr val="FFFFFF"/>
                </a:solidFill>
              </a:rPr>
              <a:t>Progetto PMCSN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275B9884-14D9-EA90-E665-722A2A6B7F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50678" y="4870825"/>
            <a:ext cx="10005950" cy="1458257"/>
          </a:xfrm>
        </p:spPr>
        <p:txBody>
          <a:bodyPr anchor="ctr" anchorCtr="0"/>
          <a:lstStyle/>
          <a:p>
            <a:pPr lvl="0" algn="l"/>
            <a:r>
              <a:rPr lang="en-US" dirty="0"/>
              <a:t>Performance Analysis of a Web App Workflow</a:t>
            </a:r>
          </a:p>
          <a:p>
            <a:pPr lvl="0" algn="l"/>
            <a:r>
              <a:rPr lang="en-US" sz="1800" dirty="0"/>
              <a:t>Maccari Gianluca</a:t>
            </a:r>
            <a:endParaRPr lang="it-IT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0900F64E-86B1-93C1-CF74-94F985B65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1A0D3972-AD8F-415A-0B6F-73E4B9E0A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211876F-7F51-2C01-D001-CC950A611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39186AD-2552-6603-D35C-DC3CAAAA0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C9CD1E74-26E3-C5A8-9C57-35C227241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484CDFE6-8C07-451E-9C12-B394279DB6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294537"/>
            <a:ext cx="9895947" cy="1033665"/>
          </a:xfrm>
        </p:spPr>
        <p:txBody>
          <a:bodyPr/>
          <a:lstStyle/>
          <a:p>
            <a:pPr lvl="0"/>
            <a:r>
              <a:rPr lang="en-US" sz="40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60BED8B4-F2D0-4AC8-4F57-21DECFB3D54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9724031" cy="3683358"/>
          </a:xfrm>
        </p:spPr>
        <p:txBody>
          <a:bodyPr anchor="ctr"/>
          <a:lstStyle/>
          <a:p>
            <a:pPr lvl="0"/>
            <a:r>
              <a:rPr lang="en-US" sz="2000"/>
              <a:t>Descrizione sistema</a:t>
            </a:r>
          </a:p>
          <a:p>
            <a:pPr lvl="0"/>
            <a:r>
              <a:rPr lang="en-US" sz="2000"/>
              <a:t>Obiettivi dello studio</a:t>
            </a:r>
          </a:p>
          <a:p>
            <a:pPr lvl="0"/>
            <a:r>
              <a:rPr lang="en-US" sz="2000"/>
              <a:t>Modello del sistema</a:t>
            </a:r>
          </a:p>
          <a:p>
            <a:pPr lvl="0"/>
            <a:r>
              <a:rPr lang="en-US" sz="2000"/>
              <a:t>Analisi transitorio</a:t>
            </a:r>
          </a:p>
          <a:p>
            <a:pPr lvl="0"/>
            <a:r>
              <a:rPr lang="en-US" sz="2000"/>
              <a:t>Design esperimenti</a:t>
            </a:r>
          </a:p>
          <a:p>
            <a:pPr lvl="0"/>
            <a:r>
              <a:rPr lang="en-US" sz="2000"/>
              <a:t>Risultati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B084EE13-9285-04A8-599F-AF3255FB4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29DF9CF4-46C4-9B1B-C7EC-51920AC89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6DD91EA-8BE1-A7CA-2071-106E928C3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035A060-F657-95B3-D1B7-0FC9F077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75632F0F-C11D-4C46-CBE0-E0F22B51A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6F96379-D15C-BF7C-5B34-0419DD9F3D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294537"/>
            <a:ext cx="9895947" cy="1033665"/>
          </a:xfrm>
        </p:spPr>
        <p:txBody>
          <a:bodyPr/>
          <a:lstStyle/>
          <a:p>
            <a:pPr lvl="0"/>
            <a:r>
              <a:rPr lang="it-IT" sz="4000">
                <a:solidFill>
                  <a:srgbClr val="FFFFFF"/>
                </a:solidFill>
              </a:rPr>
              <a:t>Descrizione Sistema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F3C3CD8A-231B-2F49-FF06-DDE3A5396EC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4908618" cy="3683358"/>
          </a:xfrm>
        </p:spPr>
        <p:txBody>
          <a:bodyPr anchor="ctr"/>
          <a:lstStyle/>
          <a:p>
            <a:pPr lvl="0"/>
            <a:r>
              <a:rPr lang="it-IT" sz="2000" dirty="0"/>
              <a:t>Web </a:t>
            </a:r>
            <a:r>
              <a:rPr lang="it-IT" sz="2000" dirty="0" err="1"/>
              <a:t>application</a:t>
            </a:r>
            <a:r>
              <a:rPr lang="it-IT" sz="2000" dirty="0"/>
              <a:t> di un e-commerce</a:t>
            </a:r>
          </a:p>
          <a:p>
            <a:pPr lvl="0"/>
            <a:r>
              <a:rPr lang="it-IT" sz="2000" dirty="0"/>
              <a:t>Tre server A, B e P</a:t>
            </a:r>
          </a:p>
          <a:p>
            <a:pPr lvl="0"/>
            <a:r>
              <a:rPr lang="it-IT" sz="2000" dirty="0"/>
              <a:t>Server A, front end, autenticazione e interazione servizio pagamento</a:t>
            </a:r>
          </a:p>
          <a:p>
            <a:pPr lvl="0"/>
            <a:r>
              <a:rPr lang="it-IT" sz="2000" dirty="0"/>
              <a:t>Server B, core </a:t>
            </a:r>
            <a:r>
              <a:rPr lang="it-IT" sz="2000" dirty="0" err="1"/>
              <a:t>logic</a:t>
            </a:r>
            <a:r>
              <a:rPr lang="it-IT" sz="2000" dirty="0"/>
              <a:t> e database</a:t>
            </a:r>
          </a:p>
          <a:p>
            <a:pPr lvl="0"/>
            <a:r>
              <a:rPr lang="it-IT" sz="2000" dirty="0"/>
              <a:t>Server P, gestione del pagamento</a:t>
            </a:r>
          </a:p>
        </p:txBody>
      </p:sp>
      <p:pic>
        <p:nvPicPr>
          <p:cNvPr id="9" name="Immagine 5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BACE8BCF-3F79-BA2B-7237-AA3C23BCA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085" y="2318196"/>
            <a:ext cx="4964524" cy="368335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7FBE6-D0CC-26C7-B606-21850F4AF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6341E385-8315-442E-FC54-E1DD51DD7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0AF26AC8-02E0-81BA-CFDA-521C8ACF6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75959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E05A950-C03D-8E49-E680-28EECEAC2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8128851" y="-10"/>
            <a:ext cx="4063145" cy="1576416"/>
          </a:xfrm>
          <a:prstGeom prst="rect">
            <a:avLst/>
          </a:prstGeom>
          <a:gradFill>
            <a:gsLst>
              <a:gs pos="0">
                <a:srgbClr val="0B3041">
                  <a:alpha val="68000"/>
                </a:srgbClr>
              </a:gs>
              <a:gs pos="100000">
                <a:srgbClr val="156082">
                  <a:alpha val="79000"/>
                </a:srgbClr>
              </a:gs>
            </a:gsLst>
            <a:lin ang="19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07B0319D-54DD-B720-86A7-B87B00822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5400013">
            <a:off x="5307782" y="-5307782"/>
            <a:ext cx="1576443" cy="12192006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00000">
                  <a:alpha val="74000"/>
                </a:srgbClr>
              </a:gs>
            </a:gsLst>
            <a:lin ang="20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0B69C4DB-FC77-5780-1E4F-AF72E3442D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>
                <a:solidFill>
                  <a:srgbClr val="FFFFFF"/>
                </a:solidFill>
              </a:rPr>
              <a:t>Obiettivi dello studio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71580AC0-0275-E64C-4234-BC1AF16C48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8549640" cy="3683358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it-IT" sz="2000" dirty="0">
                <a:solidFill>
                  <a:schemeClr val="tx1"/>
                </a:solidFill>
              </a:rPr>
              <a:t>Obiettivo 1 (Base): analisi delle prestazioni sistema base con tasso arrivi </a:t>
            </a:r>
          </a:p>
          <a:p>
            <a:r>
              <a:rPr lang="it-IT" sz="1800" dirty="0">
                <a:solidFill>
                  <a:schemeClr val="tx1"/>
                </a:solidFill>
              </a:rPr>
              <a:t>Tasso arrivi massimo 1.2 </a:t>
            </a:r>
            <a:r>
              <a:rPr lang="it-IT" sz="1800" dirty="0" err="1">
                <a:solidFill>
                  <a:schemeClr val="tx1"/>
                </a:solidFill>
              </a:rPr>
              <a:t>req</a:t>
            </a:r>
            <a:r>
              <a:rPr lang="it-IT" sz="1800" dirty="0">
                <a:solidFill>
                  <a:schemeClr val="tx1"/>
                </a:solidFill>
              </a:rPr>
              <a:t>/s.</a:t>
            </a:r>
          </a:p>
          <a:p>
            <a:pPr marL="0" indent="0">
              <a:buNone/>
            </a:pPr>
            <a:endParaRPr lang="it-IT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it-IT" sz="2000" dirty="0">
                <a:solidFill>
                  <a:schemeClr val="tx1"/>
                </a:solidFill>
              </a:rPr>
              <a:t>Obiettivo 2 (F2A): analisi impatto autenticazione a due fattori</a:t>
            </a:r>
          </a:p>
          <a:p>
            <a:r>
              <a:rPr lang="it-IT" sz="1800" dirty="0">
                <a:solidFill>
                  <a:schemeClr val="tx1"/>
                </a:solidFill>
              </a:rPr>
              <a:t>Tasso arrivi massimo 1.2 </a:t>
            </a:r>
            <a:r>
              <a:rPr lang="it-IT" sz="1800" dirty="0" err="1">
                <a:solidFill>
                  <a:schemeClr val="tx1"/>
                </a:solidFill>
              </a:rPr>
              <a:t>req</a:t>
            </a:r>
            <a:r>
              <a:rPr lang="it-IT" sz="1800" dirty="0">
                <a:solidFill>
                  <a:schemeClr val="tx1"/>
                </a:solidFill>
              </a:rPr>
              <a:t>/s;</a:t>
            </a:r>
          </a:p>
          <a:p>
            <a:r>
              <a:rPr lang="it-IT" sz="1800" dirty="0">
                <a:solidFill>
                  <a:schemeClr val="tx1"/>
                </a:solidFill>
              </a:rPr>
              <a:t>Confronto con obiettivo 1.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it-IT" sz="2000" dirty="0">
                <a:solidFill>
                  <a:schemeClr val="tx1"/>
                </a:solidFill>
              </a:rPr>
              <a:t>Obiettivo 3 (SCALING): analisi prestazioni con scaling orizzontale </a:t>
            </a:r>
          </a:p>
          <a:p>
            <a:r>
              <a:rPr lang="it-IT" sz="1800" dirty="0">
                <a:solidFill>
                  <a:schemeClr val="tx1"/>
                </a:solidFill>
              </a:rPr>
              <a:t>Tasso arrivi 1.2 </a:t>
            </a:r>
            <a:r>
              <a:rPr lang="it-IT" sz="1800" dirty="0" err="1">
                <a:solidFill>
                  <a:schemeClr val="tx1"/>
                </a:solidFill>
              </a:rPr>
              <a:t>req</a:t>
            </a:r>
            <a:r>
              <a:rPr lang="it-IT" sz="1800" dirty="0">
                <a:solidFill>
                  <a:schemeClr val="tx1"/>
                </a:solidFill>
              </a:rPr>
              <a:t>/s;</a:t>
            </a:r>
          </a:p>
          <a:p>
            <a:r>
              <a:rPr lang="en-US" sz="1800" dirty="0">
                <a:solidFill>
                  <a:schemeClr val="tx1"/>
                </a:solidFill>
              </a:rPr>
              <a:t>Massimo </a:t>
            </a:r>
            <a:r>
              <a:rPr lang="en-US" sz="1800" dirty="0" err="1">
                <a:solidFill>
                  <a:schemeClr val="tx1"/>
                </a:solidFill>
              </a:rPr>
              <a:t>numero</a:t>
            </a:r>
            <a:r>
              <a:rPr lang="en-US" sz="1800" dirty="0">
                <a:solidFill>
                  <a:schemeClr val="tx1"/>
                </a:solidFill>
              </a:rPr>
              <a:t> job per </a:t>
            </a:r>
            <a:r>
              <a:rPr lang="en-US" sz="1800" dirty="0" err="1">
                <a:solidFill>
                  <a:schemeClr val="tx1"/>
                </a:solidFill>
              </a:rPr>
              <a:t>copia</a:t>
            </a:r>
            <a:r>
              <a:rPr lang="en-US" sz="1800" dirty="0">
                <a:solidFill>
                  <a:schemeClr val="tx1"/>
                </a:solidFill>
              </a:rPr>
              <a:t> B </a:t>
            </a:r>
            <a:r>
              <a:rPr lang="en-US" sz="1800" dirty="0" err="1">
                <a:solidFill>
                  <a:schemeClr val="tx1"/>
                </a:solidFill>
              </a:rPr>
              <a:t>variabile</a:t>
            </a:r>
            <a:r>
              <a:rPr lang="en-US" sz="1800" dirty="0">
                <a:solidFill>
                  <a:schemeClr val="tx1"/>
                </a:solidFill>
              </a:rPr>
              <a:t>;</a:t>
            </a:r>
          </a:p>
          <a:p>
            <a:r>
              <a:rPr lang="en-US" sz="1800" dirty="0" err="1">
                <a:solidFill>
                  <a:schemeClr val="tx1"/>
                </a:solidFill>
              </a:rPr>
              <a:t>Confronto</a:t>
            </a:r>
            <a:r>
              <a:rPr lang="en-US" sz="1800" dirty="0">
                <a:solidFill>
                  <a:schemeClr val="tx1"/>
                </a:solidFill>
              </a:rPr>
              <a:t> con F2A.</a:t>
            </a:r>
          </a:p>
        </p:txBody>
      </p:sp>
    </p:spTree>
    <p:extLst>
      <p:ext uri="{BB962C8B-B14F-4D97-AF65-F5344CB8AC3E}">
        <p14:creationId xmlns:p14="http://schemas.microsoft.com/office/powerpoint/2010/main" val="19186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F0C2C4-B14E-63D5-CDA7-C96D5B33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D6E3ED18-22C5-B690-19AB-83960F7AE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sng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5FBA3DED-B5D1-0A90-485B-B5C24F254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B2AA0DB-6DB7-34C6-0EDE-3E7FF2194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17C5388-3373-3330-30BB-063780315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F113EE1A-EA9F-14D8-3663-5CBEF104D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1B97923-96EA-4AA6-BBF6-AB4CAEFC1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294537"/>
            <a:ext cx="9895947" cy="1033665"/>
          </a:xfrm>
        </p:spPr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Modello del Sistema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B7ED7B59-4B4A-F939-91A2-5EB0383D656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3803904" cy="3725988"/>
          </a:xfrm>
        </p:spPr>
        <p:txBody>
          <a:bodyPr anchor="ctr"/>
          <a:lstStyle/>
          <a:p>
            <a:pPr lvl="0"/>
            <a:r>
              <a:rPr lang="it-IT" sz="2000" dirty="0"/>
              <a:t>Routing fisso </a:t>
            </a:r>
          </a:p>
          <a:p>
            <a:pPr lvl="0"/>
            <a:r>
              <a:rPr lang="it-IT" sz="2000" dirty="0"/>
              <a:t>Incremento dei tempi medi di servizio server A e P in caso di F2A</a:t>
            </a:r>
          </a:p>
          <a:p>
            <a:pPr lvl="0"/>
            <a:r>
              <a:rPr lang="it-IT" sz="2000" dirty="0"/>
              <a:t>Scaling orizzontale server B</a:t>
            </a:r>
          </a:p>
          <a:p>
            <a:pPr lvl="0"/>
            <a:r>
              <a:rPr lang="it-IT" sz="2000" dirty="0"/>
              <a:t>Selezione copie B First </a:t>
            </a:r>
            <a:r>
              <a:rPr lang="it-IT" sz="2000" dirty="0" err="1"/>
              <a:t>Fit</a:t>
            </a:r>
            <a:endParaRPr lang="it-IT" sz="2000" dirty="0"/>
          </a:p>
          <a:p>
            <a:pPr lvl="0"/>
            <a:r>
              <a:rPr lang="it-IT" sz="2000" dirty="0"/>
              <a:t>No thinking time</a:t>
            </a:r>
          </a:p>
          <a:p>
            <a:pPr lvl="0"/>
            <a:r>
              <a:rPr lang="it-IT" sz="2000" dirty="0"/>
              <a:t>No network delay</a:t>
            </a:r>
          </a:p>
        </p:txBody>
      </p:sp>
      <p:pic>
        <p:nvPicPr>
          <p:cNvPr id="11" name="Immagine 10" descr="Immagine che contiene schizzo, diagramma, disegn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1ECB34F6-ADE1-04F6-18B3-CBA080436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813" y="1951383"/>
            <a:ext cx="3256974" cy="226964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F6FC3F3-AF9C-CABA-8413-5C2DF935C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571" y="4317442"/>
            <a:ext cx="5307976" cy="153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C54AB-8923-7FBD-E9D0-9C15D8E3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6C9F175-FFA1-E5A9-9FF4-E3B871DAC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59C94EA4-0834-FA7C-B070-4777ACF51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F01B296-19A1-9D1E-49E5-BA2A3F66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5ABC801-D4DA-60C7-98F6-A8B06EC7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A40056CE-D3AC-5B74-AC93-3DFF28EBE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BF031FB0-20F0-C482-342E-0D37D09867A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>
                <a:solidFill>
                  <a:srgbClr val="FFFFFF"/>
                </a:solidFill>
              </a:rPr>
              <a:t>Modello del Sistema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17B6CAB5-9F02-9C1D-9ADF-FC760D80F79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25880" y="2055817"/>
            <a:ext cx="9262872" cy="4174675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lang="it-IT" sz="2400" dirty="0"/>
              <a:t>Modello computazionale implementato in Java.</a:t>
            </a:r>
          </a:p>
          <a:p>
            <a:pPr marL="0" indent="0">
              <a:buNone/>
            </a:pPr>
            <a:r>
              <a:rPr lang="it-IT" sz="2400" dirty="0"/>
              <a:t>Classi principali:</a:t>
            </a:r>
          </a:p>
          <a:p>
            <a:r>
              <a:rPr lang="it-IT" sz="2000" dirty="0"/>
              <a:t>Event e Job;</a:t>
            </a:r>
          </a:p>
          <a:p>
            <a:r>
              <a:rPr lang="it-IT" sz="2000" dirty="0" err="1"/>
              <a:t>NextEventScheduler</a:t>
            </a:r>
            <a:r>
              <a:rPr lang="it-IT" sz="2000" dirty="0"/>
              <a:t>;</a:t>
            </a:r>
          </a:p>
          <a:p>
            <a:r>
              <a:rPr lang="it-IT" sz="2000" dirty="0"/>
              <a:t>System, </a:t>
            </a:r>
            <a:r>
              <a:rPr lang="it-IT" sz="2000" dirty="0" err="1"/>
              <a:t>Node</a:t>
            </a:r>
            <a:r>
              <a:rPr lang="it-IT" sz="2000" dirty="0"/>
              <a:t> e </a:t>
            </a:r>
            <a:r>
              <a:rPr lang="it-IT" sz="2000" dirty="0" err="1"/>
              <a:t>BLoadBalancer</a:t>
            </a:r>
            <a:r>
              <a:rPr lang="it-IT" sz="2000" dirty="0"/>
              <a:t>.</a:t>
            </a:r>
          </a:p>
          <a:p>
            <a:endParaRPr lang="it-IT" sz="2400" dirty="0"/>
          </a:p>
          <a:p>
            <a:pPr marL="0" indent="0">
              <a:buNone/>
            </a:pPr>
            <a:r>
              <a:rPr lang="it-IT" sz="2400" dirty="0"/>
              <a:t>Altre classe di ausilio per le simulazioni:</a:t>
            </a:r>
          </a:p>
          <a:p>
            <a:r>
              <a:rPr lang="it-IT" sz="2000" dirty="0" err="1"/>
              <a:t>SimulationController</a:t>
            </a:r>
            <a:r>
              <a:rPr lang="it-IT" sz="2000" dirty="0"/>
              <a:t> e </a:t>
            </a:r>
            <a:r>
              <a:rPr lang="it-IT" sz="2000" dirty="0" err="1"/>
              <a:t>ArrivalController</a:t>
            </a:r>
            <a:r>
              <a:rPr lang="it-IT" sz="2000" dirty="0"/>
              <a:t>;</a:t>
            </a:r>
          </a:p>
          <a:p>
            <a:r>
              <a:rPr lang="it-IT" sz="2000" dirty="0" err="1"/>
              <a:t>Statistics</a:t>
            </a:r>
            <a:r>
              <a:rPr lang="it-IT" sz="2000" dirty="0"/>
              <a:t>, </a:t>
            </a:r>
            <a:r>
              <a:rPr lang="it-IT" sz="2000" dirty="0" err="1"/>
              <a:t>Estimators</a:t>
            </a:r>
            <a:r>
              <a:rPr lang="it-IT" sz="2000" dirty="0"/>
              <a:t> e </a:t>
            </a:r>
            <a:r>
              <a:rPr lang="it-IT" sz="2000" dirty="0" err="1"/>
              <a:t>Welford</a:t>
            </a:r>
            <a:r>
              <a:rPr lang="it-IT" sz="2000" dirty="0"/>
              <a:t> implementano la logica per la gestione delle metriche di interesse;</a:t>
            </a:r>
          </a:p>
          <a:p>
            <a:r>
              <a:rPr lang="it-IT" sz="2000" dirty="0" err="1"/>
              <a:t>BatchMeansEstimators</a:t>
            </a:r>
            <a:r>
              <a:rPr lang="it-IT" sz="2000" dirty="0"/>
              <a:t> e </a:t>
            </a:r>
            <a:r>
              <a:rPr lang="it-IT" sz="2000" dirty="0" err="1"/>
              <a:t>BatchClass</a:t>
            </a:r>
            <a:r>
              <a:rPr lang="it-IT" sz="2000" dirty="0"/>
              <a:t> implementano la logica del </a:t>
            </a:r>
            <a:r>
              <a:rPr lang="it-IT" sz="2000" dirty="0" err="1"/>
              <a:t>BatchMeans</a:t>
            </a:r>
            <a:r>
              <a:rPr lang="it-IT" sz="2000" dirty="0"/>
              <a:t>;</a:t>
            </a:r>
          </a:p>
          <a:p>
            <a:r>
              <a:rPr lang="it-IT" sz="2000" dirty="0" err="1"/>
              <a:t>Rngs</a:t>
            </a:r>
            <a:r>
              <a:rPr lang="it-IT" sz="2000" dirty="0"/>
              <a:t> e </a:t>
            </a:r>
            <a:r>
              <a:rPr lang="it-IT" sz="2000" dirty="0" err="1"/>
              <a:t>Exponential</a:t>
            </a:r>
            <a:r>
              <a:rPr lang="it-IT" sz="2000" dirty="0"/>
              <a:t> implementano la logica della generazione valori pseudo randomici;</a:t>
            </a:r>
          </a:p>
          <a:p>
            <a:r>
              <a:rPr lang="it-IT" sz="2000" dirty="0"/>
              <a:t>Ulteriori classi per gestione dei file di output.</a:t>
            </a:r>
          </a:p>
        </p:txBody>
      </p:sp>
    </p:spTree>
    <p:extLst>
      <p:ext uri="{BB962C8B-B14F-4D97-AF65-F5344CB8AC3E}">
        <p14:creationId xmlns:p14="http://schemas.microsoft.com/office/powerpoint/2010/main" val="376766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DA4AB-58AF-AA35-8DBC-E8009719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1FEEF930-260A-1C1A-84A2-6A1D3C653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A826465A-0E87-6FC4-4CFF-6876D7B61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142DC41-67B4-CD70-171F-D06C9893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AAC8570-CA0E-224F-0D00-621DF5D33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3639AAAB-77FF-DC0E-5561-BAA80178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9C2818C-A0C9-5D91-4D22-7303F0BDB19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Modello del Sistema – Event e Job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DDD11524-05D0-D981-B275-A7F93340E23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95400" y="2055817"/>
            <a:ext cx="9601200" cy="4174675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it-IT" sz="1800" dirty="0"/>
              <a:t>Gli eventi possono essere:</a:t>
            </a:r>
          </a:p>
          <a:p>
            <a:r>
              <a:rPr lang="it-IT" sz="1800" dirty="0"/>
              <a:t>ARRIVAL, arrivo di un job in uno dei server del sistema;</a:t>
            </a:r>
          </a:p>
          <a:p>
            <a:r>
              <a:rPr lang="it-IT" sz="1800" dirty="0"/>
              <a:t>DEPARTURE, completamento di un job all’interno di uno dei server del sistema;</a:t>
            </a:r>
          </a:p>
          <a:p>
            <a:r>
              <a:rPr lang="it-IT" sz="1800" dirty="0"/>
              <a:t>CREATE, evento per creare una nuova copia del server B in caso di alto carico;</a:t>
            </a:r>
          </a:p>
          <a:p>
            <a:r>
              <a:rPr lang="it-IT" sz="1800" dirty="0"/>
              <a:t>DESTROY, evento per rimuovere la copia del server B che non riceve job;</a:t>
            </a:r>
          </a:p>
          <a:p>
            <a:r>
              <a:rPr lang="it-IT" sz="1800" dirty="0"/>
              <a:t>SAMPLING, evento artificiale necessario per il campionamento delle metriche per il transitorio.</a:t>
            </a:r>
          </a:p>
          <a:p>
            <a:endParaRPr lang="it-IT" sz="1800" dirty="0"/>
          </a:p>
          <a:p>
            <a:pPr marL="0" indent="0">
              <a:buNone/>
            </a:pPr>
            <a:r>
              <a:rPr lang="it-IT" sz="1800" dirty="0"/>
              <a:t>Le istanze della classe </a:t>
            </a:r>
            <a:r>
              <a:rPr lang="it-IT" sz="1800" b="1" dirty="0"/>
              <a:t>Job</a:t>
            </a:r>
            <a:r>
              <a:rPr lang="it-IT" sz="1800" dirty="0"/>
              <a:t> vengono create dai server stessi e mantengono le informazioni necessarie, come istante di arrivo, tempo di servizio rimanente e tempo di servizio richiesto.</a:t>
            </a:r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it-IT" sz="1800" dirty="0"/>
              <a:t>Eventi e Job associati possiedono lo stesso identificatore univoco all’interno del sistema.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6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E6122-2DAF-9A8C-9A41-55783C02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3AC5EE0D-D5D9-5BD4-9333-652B6C2A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EDCD193-7A7D-B511-3999-08C08BF82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A89B49-0A12-1D75-284F-CE52D6504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AF6C44D-9999-B535-D9CC-BE0602F6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570823DF-39DF-F4DE-CDFA-81B76CE49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B3E34A4-7243-18D6-13AC-9C25871E5C3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Modello del Sistema – </a:t>
            </a:r>
            <a:r>
              <a:rPr lang="it-IT" sz="4000" dirty="0" err="1">
                <a:solidFill>
                  <a:srgbClr val="FFFFFF"/>
                </a:solidFill>
              </a:rPr>
              <a:t>Scheduler</a:t>
            </a:r>
            <a:r>
              <a:rPr lang="it-IT" sz="4000" dirty="0">
                <a:solidFill>
                  <a:srgbClr val="FFFFFF"/>
                </a:solidFill>
              </a:rPr>
              <a:t> e System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C6D323C2-46AF-DA9C-C0BE-60D650D8463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9400032" cy="3899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800" dirty="0"/>
              <a:t>La classe </a:t>
            </a:r>
            <a:r>
              <a:rPr lang="it-IT" sz="1800" b="1" dirty="0" err="1"/>
              <a:t>NextEventScheduler</a:t>
            </a:r>
            <a:r>
              <a:rPr lang="it-IT" sz="1800" dirty="0"/>
              <a:t> porta avanti la simulazione grazie ad una lista di eventi ordinati per istante di arrivo. </a:t>
            </a:r>
          </a:p>
          <a:p>
            <a:pPr marL="0" indent="0">
              <a:buNone/>
            </a:pPr>
            <a:r>
              <a:rPr lang="it-IT" sz="1800" dirty="0"/>
              <a:t>Il tempo di simulazione avanza ad ogni estrazione di evento dalla lista.</a:t>
            </a:r>
          </a:p>
          <a:p>
            <a:pPr marL="0" indent="0">
              <a:buNone/>
            </a:pPr>
            <a:r>
              <a:rPr lang="it-IT" sz="1800" dirty="0"/>
              <a:t>Espone metodo </a:t>
            </a:r>
            <a:r>
              <a:rPr lang="it-IT" sz="1800" dirty="0" err="1"/>
              <a:t>addEvent</a:t>
            </a:r>
            <a:r>
              <a:rPr lang="it-IT" sz="1800" dirty="0"/>
              <a:t> per inserire nuovi eventi all’interno della lista.</a:t>
            </a:r>
          </a:p>
          <a:p>
            <a:pPr marL="0" indent="0">
              <a:buNone/>
            </a:pPr>
            <a:r>
              <a:rPr lang="it-IT" sz="1800" dirty="0"/>
              <a:t>Espone metodi </a:t>
            </a:r>
            <a:r>
              <a:rPr lang="it-IT" sz="1800" dirty="0" err="1"/>
              <a:t>getAndRemoveDepartureEvent</a:t>
            </a:r>
            <a:r>
              <a:rPr lang="it-IT" sz="1800" dirty="0"/>
              <a:t> e </a:t>
            </a:r>
            <a:r>
              <a:rPr lang="it-IT" sz="1800" dirty="0" err="1"/>
              <a:t>removeDestroyEvent</a:t>
            </a:r>
            <a:r>
              <a:rPr lang="it-IT" sz="1800" dirty="0"/>
              <a:t> per rimuovere eventi DEPARTURE e DESTROY.</a:t>
            </a:r>
          </a:p>
          <a:p>
            <a:pPr marL="0" indent="0">
              <a:buNone/>
            </a:pPr>
            <a:r>
              <a:rPr lang="it-IT" sz="1800" dirty="0"/>
              <a:t>L’evento estratto viene inviato al corretto gestore tramite istanza di System.</a:t>
            </a:r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it-IT" sz="1800" b="1" dirty="0"/>
              <a:t>System</a:t>
            </a:r>
            <a:r>
              <a:rPr lang="it-IT" sz="1800" dirty="0"/>
              <a:t> è la classe che si occupa di gestire i server del sistema e dell’instradamento degli eventi verso i corretti gestori.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585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1D0A4-051A-5FA4-7228-9E0E9910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E74201CC-0E65-0D35-721E-32814CB1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DB4E665A-7ECB-AB3F-632C-052D436B2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9061F09-57B1-E1CA-8593-DD908EA52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D036B29-F79E-BFEA-F8C5-5885A9EAF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8356B361-2EDF-E7C4-FC1A-860A0B71F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574F8D7-361F-1DF7-2570-66ED3C4A91A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Modello del Sistema – </a:t>
            </a:r>
            <a:r>
              <a:rPr lang="it-IT" sz="4000" dirty="0" err="1">
                <a:solidFill>
                  <a:srgbClr val="FFFFFF"/>
                </a:solidFill>
              </a:rPr>
              <a:t>Node</a:t>
            </a:r>
            <a:r>
              <a:rPr lang="it-IT" sz="4000" dirty="0">
                <a:solidFill>
                  <a:srgbClr val="FFFFFF"/>
                </a:solidFill>
              </a:rPr>
              <a:t> e </a:t>
            </a:r>
            <a:r>
              <a:rPr lang="it-IT" sz="4000" dirty="0" err="1">
                <a:solidFill>
                  <a:srgbClr val="FFFFFF"/>
                </a:solidFill>
              </a:rPr>
              <a:t>LoadBalancer</a:t>
            </a:r>
            <a:endParaRPr lang="it-IT" sz="4000" dirty="0">
              <a:solidFill>
                <a:srgbClr val="FFFFFF"/>
              </a:solidFill>
            </a:endParaRP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3A876716-4C6D-440E-EDDB-BABA03422FA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9400032" cy="3899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800" dirty="0"/>
              <a:t>Classe </a:t>
            </a:r>
            <a:r>
              <a:rPr lang="it-IT" sz="1800" b="1" dirty="0" err="1"/>
              <a:t>Node</a:t>
            </a:r>
            <a:r>
              <a:rPr lang="it-IT" sz="1800" dirty="0"/>
              <a:t> rappresenta i server del sistema. </a:t>
            </a:r>
          </a:p>
          <a:p>
            <a:pPr marL="0" indent="0">
              <a:buNone/>
            </a:pPr>
            <a:r>
              <a:rPr lang="it-IT" sz="1800" dirty="0"/>
              <a:t>Espone metodo </a:t>
            </a:r>
            <a:r>
              <a:rPr lang="it-IT" sz="1800" dirty="0" err="1"/>
              <a:t>onArrival</a:t>
            </a:r>
            <a:r>
              <a:rPr lang="it-IT" sz="1800" dirty="0"/>
              <a:t> per gestire eventi ARRIVAL e </a:t>
            </a:r>
            <a:r>
              <a:rPr lang="it-IT" sz="1800" dirty="0" err="1"/>
              <a:t>onDeparture</a:t>
            </a:r>
            <a:r>
              <a:rPr lang="it-IT" sz="1800" dirty="0"/>
              <a:t> per gestire eventi DEPARTURE.</a:t>
            </a:r>
          </a:p>
          <a:p>
            <a:pPr marL="0" indent="0">
              <a:buNone/>
            </a:pPr>
            <a:r>
              <a:rPr lang="it-IT" sz="1800" dirty="0"/>
              <a:t>Crea eventi DEPARTURE per sé stesso e ARRIVAL per altri server.</a:t>
            </a:r>
          </a:p>
          <a:p>
            <a:pPr marL="0" indent="0">
              <a:buNone/>
            </a:pPr>
            <a:r>
              <a:rPr lang="it-IT" sz="1800" dirty="0"/>
              <a:t>Gestisce lo share di tempo del processor sharing dividendo il tempo trascorso dall’ultimo evento gestito e numero di job nel server.</a:t>
            </a:r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it-IT" sz="1800" b="1" dirty="0" err="1"/>
              <a:t>BLoadBalancer</a:t>
            </a:r>
            <a:r>
              <a:rPr lang="it-IT" sz="1800" dirty="0"/>
              <a:t> gestisce le copie del server B, la selezione della copia a cui instradare i nuovi arrivi e la gestione di eventi CREATE e DESTROY.</a:t>
            </a:r>
          </a:p>
          <a:p>
            <a:pPr marL="0" indent="0">
              <a:buNone/>
            </a:pPr>
            <a:r>
              <a:rPr lang="it-IT" sz="1800" dirty="0"/>
              <a:t>Selezione della copia secondo politica First </a:t>
            </a:r>
            <a:r>
              <a:rPr lang="it-IT" sz="1800" dirty="0" err="1"/>
              <a:t>Fit</a:t>
            </a:r>
            <a:r>
              <a:rPr lang="it-IT" sz="1800" dirty="0"/>
              <a:t>. Se non viene selezionata alcuna copia, genera evento CREATE.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310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BA7D4-6F44-314D-EB97-B441F5C4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CAAFFDC4-D241-CC30-2E9E-CCE77AEA7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54037831-22AF-952A-D638-595BFBDA3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1057B34-8308-E72F-755B-59AB0697C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8B889CE-E11B-FFE2-8023-B17AACB82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43F6F196-D19F-3CC3-3609-BB26CEF85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C33B595-C110-D087-2BAD-36729925900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Modello del Sistema - Parametri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0E6A1090-C57D-E4A4-5AB7-E7FA4524246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9400032" cy="3899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 dirty="0"/>
              <a:t>Parametri principali del modello:</a:t>
            </a:r>
          </a:p>
          <a:p>
            <a:r>
              <a:rPr lang="it-IT" sz="2000" dirty="0"/>
              <a:t>Tempi medi di servizio dei server A e P, controllabili con parametro isF2A;</a:t>
            </a:r>
          </a:p>
          <a:p>
            <a:r>
              <a:rPr lang="it-IT" sz="2000" dirty="0"/>
              <a:t>numero di job massimi per copia B (</a:t>
            </a:r>
            <a:r>
              <a:rPr lang="it-IT" sz="2000" dirty="0" err="1"/>
              <a:t>maxJobForCopy</a:t>
            </a:r>
            <a:r>
              <a:rPr lang="it-IT" sz="2000" dirty="0"/>
              <a:t>);</a:t>
            </a:r>
          </a:p>
          <a:p>
            <a:r>
              <a:rPr lang="it-IT" sz="2000" dirty="0"/>
              <a:t>(verifica) numero massimo di copie B (</a:t>
            </a:r>
            <a:r>
              <a:rPr lang="it-IT" sz="2000" dirty="0" err="1"/>
              <a:t>maxNumOfCopies</a:t>
            </a:r>
            <a:r>
              <a:rPr lang="it-IT" sz="2000" dirty="0"/>
              <a:t>).</a:t>
            </a:r>
          </a:p>
          <a:p>
            <a:pPr marL="0" indent="0">
              <a:buNone/>
            </a:pPr>
            <a:r>
              <a:rPr lang="it-IT" sz="2000" dirty="0"/>
              <a:t>Scaling controllato da parametro </a:t>
            </a:r>
            <a:r>
              <a:rPr lang="it-IT" sz="2000" dirty="0" err="1"/>
              <a:t>isScaling</a:t>
            </a:r>
            <a:r>
              <a:rPr lang="it-IT" sz="2000" dirty="0"/>
              <a:t>.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83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D1356-67EC-B5FC-9C32-8562291A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424EAC8D-9A78-DE31-BDD6-6EF8FEF0B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8E3685E-1D74-5E57-E59A-4F74A023D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CC563E-8104-A122-F001-305CC963E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16D3C0B-1F13-E557-2019-8E3F9A951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0B081F80-F554-BFAC-F3A9-CF9D54EF4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552962E-45F4-EC4F-7BC5-0BAF6FEF5A5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Analisi Transitorio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84AFB8BB-D163-5C6B-F207-A6163B75E4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9400032" cy="3899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 dirty="0"/>
              <a:t>In ogni grafico sono riportati gli andamenti del tempo di risposta medio dei tre server e sistema complessivo per 9 </a:t>
            </a:r>
            <a:r>
              <a:rPr lang="it-IT" sz="2000" dirty="0" err="1"/>
              <a:t>run</a:t>
            </a:r>
            <a:r>
              <a:rPr lang="it-IT" sz="2000" dirty="0"/>
              <a:t> differenti.</a:t>
            </a:r>
          </a:p>
          <a:p>
            <a:pPr marL="0" indent="0">
              <a:buNone/>
            </a:pPr>
            <a:r>
              <a:rPr lang="it-IT" sz="2000" dirty="0"/>
              <a:t>Finestra temporale di 48 ore.</a:t>
            </a:r>
          </a:p>
          <a:p>
            <a:pPr marL="0" indent="0">
              <a:buNone/>
            </a:pPr>
            <a:r>
              <a:rPr lang="it-IT" sz="2000" dirty="0"/>
              <a:t>Per ogni grafico e ogni componente è riportata una retta nera tratteggiata che indica il valore del tempo di risposta medio ottenuto dal modello analitico associato.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315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4016D-04A2-E20C-085E-C96C4D9A5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35C781C6-90EA-9C13-4537-756AA87EA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76506B9-A170-8A10-0A71-7A7C1350D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A5B9E3B-2E69-36FC-A2DF-207476796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C354B70-3390-3646-A423-C0EF8DA05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48411E0F-2274-44F5-48C3-30BEC1744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0D60E910-5D02-67C0-4572-8D7BA16B65B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Analisi Transitorio – Modello Base</a:t>
            </a:r>
          </a:p>
        </p:txBody>
      </p:sp>
      <p:pic>
        <p:nvPicPr>
          <p:cNvPr id="10" name="Segnaposto contenuto 9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D219774F-1986-934E-8D17-EA1153981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7" y="1690688"/>
            <a:ext cx="8304340" cy="4895442"/>
          </a:xfr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E00B00D-F9F3-DA6B-8715-1D139C66D5F0}"/>
              </a:ext>
            </a:extLst>
          </p:cNvPr>
          <p:cNvSpPr txBox="1"/>
          <p:nvPr/>
        </p:nvSpPr>
        <p:spPr>
          <a:xfrm>
            <a:off x="9518904" y="2295144"/>
            <a:ext cx="23317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Rette di riferimento: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System, y = 25.1381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A, y = 1.4592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B, y =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P, y = 0.7692</a:t>
            </a:r>
          </a:p>
        </p:txBody>
      </p:sp>
    </p:spTree>
    <p:extLst>
      <p:ext uri="{BB962C8B-B14F-4D97-AF65-F5344CB8AC3E}">
        <p14:creationId xmlns:p14="http://schemas.microsoft.com/office/powerpoint/2010/main" val="849824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6BFAD-FE1D-D98F-AD4A-4B65F52F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12FD3CA4-5F60-D18B-C30E-7DE231CB3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25.1381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A66D520D-7FF9-DA1A-FC86-1F6A7E7D4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64325CA-069A-4610-F2DF-38281895D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5D550FF-F7B2-087E-FEC4-F600248BF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FAF30F5B-DB7D-7DFC-3807-B2C4A3628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5DA7550-16C9-3504-5848-190F2CD5BC9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Analisi Transitorio – Modello F2A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2317E33-A73F-ECCD-C7F0-BA5B738D6D90}"/>
              </a:ext>
            </a:extLst>
          </p:cNvPr>
          <p:cNvSpPr txBox="1"/>
          <p:nvPr/>
        </p:nvSpPr>
        <p:spPr>
          <a:xfrm>
            <a:off x="9518904" y="2295144"/>
            <a:ext cx="23317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Rette di riferimento: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System, y = 31.875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A, y = 2.5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B, y =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P, y = 4.375</a:t>
            </a:r>
          </a:p>
        </p:txBody>
      </p:sp>
      <p:pic>
        <p:nvPicPr>
          <p:cNvPr id="13" name="Segnaposto contenuto 12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06C2F5CA-916C-56FD-6543-348D292B5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7" y="1690688"/>
            <a:ext cx="8305287" cy="4896000"/>
          </a:xfrm>
        </p:spPr>
      </p:pic>
    </p:spTree>
    <p:extLst>
      <p:ext uri="{BB962C8B-B14F-4D97-AF65-F5344CB8AC3E}">
        <p14:creationId xmlns:p14="http://schemas.microsoft.com/office/powerpoint/2010/main" val="1042870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498E4-0ED6-D423-0AC0-3E28B744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0505F02C-23ED-5BC5-1A55-BE4575075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02B39B70-1FD3-060C-3C7F-2AFB40B66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2A696A-0A0D-2E94-05AB-47A6A2F34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0BF03BE-A2E5-4A96-E490-BA01A12D6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80382B93-F5ED-E10E-9C1E-4B48A4C5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8A3DAC4E-1566-363B-4738-3D09CB03204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Analisi Transitorio – Modello SCALING</a:t>
            </a:r>
          </a:p>
        </p:txBody>
      </p:sp>
      <p:pic>
        <p:nvPicPr>
          <p:cNvPr id="10" name="Segnaposto contenuto 9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8C12F9F2-3339-C6F0-02CC-88DA82EC2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6" y="1690688"/>
            <a:ext cx="8315695" cy="4902136"/>
          </a:xfr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1079BEE-2DDA-F32D-4A8F-4C8EF63746EC}"/>
              </a:ext>
            </a:extLst>
          </p:cNvPr>
          <p:cNvSpPr txBox="1"/>
          <p:nvPr/>
        </p:nvSpPr>
        <p:spPr>
          <a:xfrm>
            <a:off x="9518904" y="2295144"/>
            <a:ext cx="233172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Questi risultati sono confrontati con il risultato del modello analitico in fase di verifica.</a:t>
            </a:r>
          </a:p>
          <a:p>
            <a:endParaRPr lang="it-IT" dirty="0"/>
          </a:p>
          <a:p>
            <a:r>
              <a:rPr lang="it-IT" dirty="0"/>
              <a:t>Rette di riferimento: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System, y = 12.0303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A, y = 2.2284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B, y = 1.5066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P, y = 3.9924</a:t>
            </a:r>
          </a:p>
        </p:txBody>
      </p:sp>
    </p:spTree>
    <p:extLst>
      <p:ext uri="{BB962C8B-B14F-4D97-AF65-F5344CB8AC3E}">
        <p14:creationId xmlns:p14="http://schemas.microsoft.com/office/powerpoint/2010/main" val="2064108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9C0B0-2178-39C9-DF72-AEF19BF6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0D179406-F4AA-6ED4-88D3-534A93195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84063E9A-BF6F-0B6B-E270-9C010C4F5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130780D-8A9F-8B56-AB0B-BA468EB6F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E200D85-C5E2-D45E-806F-E2569B8D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BCB31241-57F8-1D40-FE77-3CE6119A0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4691939-5080-63E9-57D3-FED3D756922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Design degli esperimenti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121F9348-E3B4-B320-5547-6B779BEAF3E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9400032" cy="3899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 dirty="0"/>
              <a:t>Poiché il sistema è sempre attivo e non possiede eventi che interrompono la sua attività, si è scelto </a:t>
            </a:r>
            <a:r>
              <a:rPr lang="it-IT" sz="2000" b="1" dirty="0"/>
              <a:t>Orizzonte Infinito </a:t>
            </a:r>
            <a:r>
              <a:rPr lang="it-IT" sz="2000" dirty="0"/>
              <a:t>per gli esperimenti.</a:t>
            </a:r>
          </a:p>
          <a:p>
            <a:pPr marL="0" indent="0">
              <a:buNone/>
            </a:pPr>
            <a:r>
              <a:rPr lang="it-IT" sz="2000" dirty="0"/>
              <a:t>Dunque esperimenti eseguiti con metodo del </a:t>
            </a:r>
            <a:r>
              <a:rPr lang="it-IT" sz="2000" b="1" dirty="0"/>
              <a:t>Batch Means </a:t>
            </a:r>
            <a:r>
              <a:rPr lang="it-IT" sz="2000" dirty="0"/>
              <a:t>con parametri b = 4096 e k = 200.</a:t>
            </a:r>
          </a:p>
          <a:p>
            <a:pPr marL="0" indent="0">
              <a:buNone/>
            </a:pPr>
            <a:r>
              <a:rPr lang="it-IT" sz="2000" dirty="0"/>
              <a:t>Alla fine di ogni esperimenti si calcolano le medie delle metriche interessanti e intervallo di confidenza (livello confidenza 95%).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80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4E185-1B72-2E62-2C01-285A0D4D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B3A5120F-9319-9B9E-DD27-0A4E9493D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1F4A543-B4C6-F180-4CFE-4EAE37D3B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2A404A1-7142-67DE-5F92-CC05F38D9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8A853C8-A32C-661B-FE3D-070173B39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4F9F4042-178F-0F9B-82DD-33F7381FC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1A3FE018-01F1-244B-3A04-C6811EFE636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1</a:t>
            </a:r>
          </a:p>
        </p:txBody>
      </p:sp>
      <p:pic>
        <p:nvPicPr>
          <p:cNvPr id="10" name="Segnaposto contenuto 9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8964F695-EC7A-63A2-8BE8-F27AE3397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8" y="1690688"/>
            <a:ext cx="6825204" cy="5040000"/>
          </a:xfrm>
        </p:spPr>
      </p:pic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1319834E-EDEE-C973-790F-AC1364BCD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806629"/>
              </p:ext>
            </p:extLst>
          </p:nvPr>
        </p:nvGraphicFramePr>
        <p:xfrm>
          <a:off x="8115300" y="3385169"/>
          <a:ext cx="347929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764">
                  <a:extLst>
                    <a:ext uri="{9D8B030D-6E8A-4147-A177-3AD203B41FA5}">
                      <a16:colId xmlns:a16="http://schemas.microsoft.com/office/drawing/2014/main" val="1967608135"/>
                    </a:ext>
                  </a:extLst>
                </a:gridCol>
                <a:gridCol w="1159764">
                  <a:extLst>
                    <a:ext uri="{9D8B030D-6E8A-4147-A177-3AD203B41FA5}">
                      <a16:colId xmlns:a16="http://schemas.microsoft.com/office/drawing/2014/main" val="549301455"/>
                    </a:ext>
                  </a:extLst>
                </a:gridCol>
                <a:gridCol w="1159764">
                  <a:extLst>
                    <a:ext uri="{9D8B030D-6E8A-4147-A177-3AD203B41FA5}">
                      <a16:colId xmlns:a16="http://schemas.microsoft.com/office/drawing/2014/main" val="845789849"/>
                    </a:ext>
                  </a:extLst>
                </a:gridCol>
              </a:tblGrid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587359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1.4293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0.0262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784370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18.9958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1.5940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583539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0.7642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061675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24.0480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1.6288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540865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F3721B4-5D4D-D8AA-99E6-871EEF2A7223}"/>
              </a:ext>
            </a:extLst>
          </p:cNvPr>
          <p:cNvSpPr txBox="1"/>
          <p:nvPr/>
        </p:nvSpPr>
        <p:spPr>
          <a:xfrm>
            <a:off x="8114849" y="2877332"/>
            <a:ext cx="3338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Tempo Risposta medio,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</a:p>
        </p:txBody>
      </p:sp>
    </p:spTree>
    <p:extLst>
      <p:ext uri="{BB962C8B-B14F-4D97-AF65-F5344CB8AC3E}">
        <p14:creationId xmlns:p14="http://schemas.microsoft.com/office/powerpoint/2010/main" val="2596607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1B3C6-C499-2C66-D330-012CE898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05A3A74A-58F3-4964-5116-D2AAC1F3A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7D4388A-7991-BB48-BB93-AA7979EAC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F822DC2-A607-AB71-640B-4771488E4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AE3D258-E87A-E83D-8BDA-E3AD468C3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92C40D63-B210-88DA-3F91-5E239A23C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56D9E70-0394-201B-F50E-C42DDA4B00C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1</a:t>
            </a:r>
          </a:p>
        </p:txBody>
      </p:sp>
      <p:pic>
        <p:nvPicPr>
          <p:cNvPr id="10" name="Segnaposto contenuto 9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01B782AF-D232-AC40-6425-C88CD3BCC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8" y="1690688"/>
            <a:ext cx="6820273" cy="5040000"/>
          </a:xfr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1A09B5C-BE17-2B87-F8EA-DC3BD15D46EE}"/>
              </a:ext>
            </a:extLst>
          </p:cNvPr>
          <p:cNvSpPr txBox="1"/>
          <p:nvPr/>
        </p:nvSpPr>
        <p:spPr>
          <a:xfrm>
            <a:off x="8114849" y="2877332"/>
            <a:ext cx="3238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Popolazione media,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28056BB6-E6A9-BC10-0243-D7CAE905F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251185"/>
              </p:ext>
            </p:extLst>
          </p:nvPr>
        </p:nvGraphicFramePr>
        <p:xfrm>
          <a:off x="8115300" y="3385169"/>
          <a:ext cx="347929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764">
                  <a:extLst>
                    <a:ext uri="{9D8B030D-6E8A-4147-A177-3AD203B41FA5}">
                      <a16:colId xmlns:a16="http://schemas.microsoft.com/office/drawing/2014/main" val="1967608135"/>
                    </a:ext>
                  </a:extLst>
                </a:gridCol>
                <a:gridCol w="1159764">
                  <a:extLst>
                    <a:ext uri="{9D8B030D-6E8A-4147-A177-3AD203B41FA5}">
                      <a16:colId xmlns:a16="http://schemas.microsoft.com/office/drawing/2014/main" val="549301455"/>
                    </a:ext>
                  </a:extLst>
                </a:gridCol>
                <a:gridCol w="1159764">
                  <a:extLst>
                    <a:ext uri="{9D8B030D-6E8A-4147-A177-3AD203B41FA5}">
                      <a16:colId xmlns:a16="http://schemas.microsoft.com/office/drawing/2014/main" val="845789849"/>
                    </a:ext>
                  </a:extLst>
                </a:gridCol>
              </a:tblGrid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587359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5.1461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0.1015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784370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22.8653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1.9504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583539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0.9162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061675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28.9250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1.9989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540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057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8FF31-C4A4-7BAA-B562-7CAA38F8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90C3B468-09C3-A46A-2428-FE76F6EA5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9E8763AB-0B12-1975-6C8F-A2024F37E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3C2EA3F-6EB1-A8D2-A564-8F19707F6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9ACAD70-B21B-BD87-7B02-D933A2A06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C4406C6-D404-A089-F8F0-5F33BE4AA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D05F265A-23F2-F6DB-2154-CFF64CC56B0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692CE7D-0E0E-D2AA-3355-574D8AC30D7D}"/>
              </a:ext>
            </a:extLst>
          </p:cNvPr>
          <p:cNvSpPr txBox="1"/>
          <p:nvPr/>
        </p:nvSpPr>
        <p:spPr>
          <a:xfrm>
            <a:off x="8114849" y="2877332"/>
            <a:ext cx="3238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Throughput,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EFBCE433-40E8-4C84-77F7-B9791DC3A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176995"/>
              </p:ext>
            </p:extLst>
          </p:nvPr>
        </p:nvGraphicFramePr>
        <p:xfrm>
          <a:off x="8115300" y="3385169"/>
          <a:ext cx="347929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764">
                  <a:extLst>
                    <a:ext uri="{9D8B030D-6E8A-4147-A177-3AD203B41FA5}">
                      <a16:colId xmlns:a16="http://schemas.microsoft.com/office/drawing/2014/main" val="1967608135"/>
                    </a:ext>
                  </a:extLst>
                </a:gridCol>
                <a:gridCol w="1159764">
                  <a:extLst>
                    <a:ext uri="{9D8B030D-6E8A-4147-A177-3AD203B41FA5}">
                      <a16:colId xmlns:a16="http://schemas.microsoft.com/office/drawing/2014/main" val="549301455"/>
                    </a:ext>
                  </a:extLst>
                </a:gridCol>
                <a:gridCol w="1159764">
                  <a:extLst>
                    <a:ext uri="{9D8B030D-6E8A-4147-A177-3AD203B41FA5}">
                      <a16:colId xmlns:a16="http://schemas.microsoft.com/office/drawing/2014/main" val="845789849"/>
                    </a:ext>
                  </a:extLst>
                </a:gridCol>
              </a:tblGrid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587359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3.5965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784370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583539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061675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540865"/>
                  </a:ext>
                </a:extLst>
              </a:tr>
            </a:tbl>
          </a:graphicData>
        </a:graphic>
      </p:graphicFrame>
      <p:pic>
        <p:nvPicPr>
          <p:cNvPr id="14" name="Segnaposto contenuto 13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FECDCE76-380E-74A1-29C7-C6B6ADE42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7" y="1690688"/>
            <a:ext cx="6825204" cy="5040000"/>
          </a:xfrm>
        </p:spPr>
      </p:pic>
    </p:spTree>
    <p:extLst>
      <p:ext uri="{BB962C8B-B14F-4D97-AF65-F5344CB8AC3E}">
        <p14:creationId xmlns:p14="http://schemas.microsoft.com/office/powerpoint/2010/main" val="1685149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02CA5-2009-B82C-C185-165F039D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95C6AFA9-BB73-7B50-49BE-1458E9DA0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D1BFF24-5578-FD79-2F46-F73340C50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361ED92-328D-6C01-A3C0-1B647432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7981E9D-29C3-08E8-DA0E-220333FBF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0FAAE834-D182-6FD6-5259-2ED9901DC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0F250619-E291-6955-F441-798B1F40C46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0A4F5D-826C-A87C-AA4F-A30EC234EBD3}"/>
              </a:ext>
            </a:extLst>
          </p:cNvPr>
          <p:cNvSpPr txBox="1"/>
          <p:nvPr/>
        </p:nvSpPr>
        <p:spPr>
          <a:xfrm>
            <a:off x="8114849" y="2877332"/>
            <a:ext cx="3238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Utilizzazione,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DD810FE4-7559-E574-B44A-BFB7B4758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979760"/>
              </p:ext>
            </p:extLst>
          </p:nvPr>
        </p:nvGraphicFramePr>
        <p:xfrm>
          <a:off x="8115300" y="3385169"/>
          <a:ext cx="347929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764">
                  <a:extLst>
                    <a:ext uri="{9D8B030D-6E8A-4147-A177-3AD203B41FA5}">
                      <a16:colId xmlns:a16="http://schemas.microsoft.com/office/drawing/2014/main" val="1967608135"/>
                    </a:ext>
                  </a:extLst>
                </a:gridCol>
                <a:gridCol w="1159764">
                  <a:extLst>
                    <a:ext uri="{9D8B030D-6E8A-4147-A177-3AD203B41FA5}">
                      <a16:colId xmlns:a16="http://schemas.microsoft.com/office/drawing/2014/main" val="549301455"/>
                    </a:ext>
                  </a:extLst>
                </a:gridCol>
                <a:gridCol w="1159764">
                  <a:extLst>
                    <a:ext uri="{9D8B030D-6E8A-4147-A177-3AD203B41FA5}">
                      <a16:colId xmlns:a16="http://schemas.microsoft.com/office/drawing/2014/main" val="845789849"/>
                    </a:ext>
                  </a:extLst>
                </a:gridCol>
              </a:tblGrid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587359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784370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0.9586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583539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0.4789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061675"/>
                  </a:ext>
                </a:extLst>
              </a:tr>
              <a:tr h="284767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0.9963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540865"/>
                  </a:ext>
                </a:extLst>
              </a:tr>
            </a:tbl>
          </a:graphicData>
        </a:graphic>
      </p:graphicFrame>
      <p:pic>
        <p:nvPicPr>
          <p:cNvPr id="18" name="Segnaposto contenuto 17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2021F00F-D199-108F-54FE-9587CE225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7" y="1690688"/>
            <a:ext cx="6825204" cy="5040000"/>
          </a:xfrm>
        </p:spPr>
      </p:pic>
    </p:spTree>
    <p:extLst>
      <p:ext uri="{BB962C8B-B14F-4D97-AF65-F5344CB8AC3E}">
        <p14:creationId xmlns:p14="http://schemas.microsoft.com/office/powerpoint/2010/main" val="1548598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DA403-3E69-1AB2-1381-B9F327C9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740890EE-D0F9-3D8A-B026-14A6CB2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DC521626-9B7F-3920-16B9-F91515D2E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D712209-23D3-8405-5160-47DC58029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9DD446A-09C1-DA98-27DD-E7E6E234F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329A306F-B0DB-9A43-A492-E7BF6C46C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1272FB4-CA77-6580-7A7D-7E5E4D2411F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2 (F2A)</a:t>
            </a:r>
          </a:p>
        </p:txBody>
      </p:sp>
      <p:pic>
        <p:nvPicPr>
          <p:cNvPr id="10" name="Segnaposto contenuto 9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37F8CDD2-02B1-BAC0-8A3E-827E404F3A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8" y="1690688"/>
            <a:ext cx="6820273" cy="5040000"/>
          </a:xfr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80D1512-FDAF-AEB8-8813-661EEF6D0A5E}"/>
              </a:ext>
            </a:extLst>
          </p:cNvPr>
          <p:cNvSpPr txBox="1"/>
          <p:nvPr/>
        </p:nvSpPr>
        <p:spPr>
          <a:xfrm>
            <a:off x="8114849" y="2877332"/>
            <a:ext cx="3329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Tempo Risposta medio,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0370B10F-B36E-982B-89C1-9AF8C5669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786674"/>
              </p:ext>
            </p:extLst>
          </p:nvPr>
        </p:nvGraphicFramePr>
        <p:xfrm>
          <a:off x="8114849" y="3343449"/>
          <a:ext cx="3479742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240952042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15013965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796870319"/>
                    </a:ext>
                  </a:extLst>
                </a:gridCol>
              </a:tblGrid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226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2.4481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0.0806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201924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18.969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1.579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44109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4.292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2569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30.606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1.730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156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603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CC002-D40B-DB43-3490-2B186C0B2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7AC106D2-3B5B-8D6F-9D22-DD3AC9DBA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2AB62487-DEAA-67A5-A5FD-B3B73BB6B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CE8557C-41EF-91E1-33A1-31E08C548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553829-95A6-4A93-57A3-9DAD33BC6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139C45B6-E971-0412-4B22-65EECECA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2025FC81-5A48-F01B-8341-AB232CAF785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2 (F2A)</a:t>
            </a:r>
          </a:p>
        </p:txBody>
      </p:sp>
      <p:pic>
        <p:nvPicPr>
          <p:cNvPr id="10" name="Segnaposto contenuto 9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0AD909B2-B196-5E85-A3A2-8826A8AAE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7" y="1690688"/>
            <a:ext cx="6825204" cy="5040000"/>
          </a:xfr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19FF32E-EE65-7BCB-7215-198D29D10951}"/>
              </a:ext>
            </a:extLst>
          </p:cNvPr>
          <p:cNvSpPr txBox="1"/>
          <p:nvPr/>
        </p:nvSpPr>
        <p:spPr>
          <a:xfrm>
            <a:off x="8114849" y="2877332"/>
            <a:ext cx="3238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Popolazione media,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8BB6A79F-DE4D-92F6-ABF3-CB41C84D1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14908"/>
              </p:ext>
            </p:extLst>
          </p:nvPr>
        </p:nvGraphicFramePr>
        <p:xfrm>
          <a:off x="8114849" y="3343449"/>
          <a:ext cx="3479742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240952042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15013965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796870319"/>
                    </a:ext>
                  </a:extLst>
                </a:gridCol>
              </a:tblGrid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226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8.823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0.304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201924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22.831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1.931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44109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5.151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2569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36.801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2.132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156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790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EC5E1-39D3-F23E-92E1-2653A92D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B423A240-CC3B-616A-EC8E-D5739872E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DC426A9B-43C1-8CC9-35DE-E9A7C50A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43670C8-E6B6-ACE2-4E80-794173F32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D1F700A-9A89-FA47-FF9F-CF1759AA3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CA8B10F2-71AB-02C8-22E1-53CBE1D1D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02FC575E-E17E-D559-83AC-F2CC4B6E7B7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2 (F2A)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F7548CF-B0B2-902C-790A-CAE5555BDB0F}"/>
              </a:ext>
            </a:extLst>
          </p:cNvPr>
          <p:cNvSpPr txBox="1"/>
          <p:nvPr/>
        </p:nvSpPr>
        <p:spPr>
          <a:xfrm>
            <a:off x="8114849" y="2877332"/>
            <a:ext cx="3238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Throughput con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833D8611-C7CD-BCF6-D9B6-D3B8778C1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743566"/>
              </p:ext>
            </p:extLst>
          </p:nvPr>
        </p:nvGraphicFramePr>
        <p:xfrm>
          <a:off x="8114849" y="3343449"/>
          <a:ext cx="3479742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240952042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15013965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796870319"/>
                    </a:ext>
                  </a:extLst>
                </a:gridCol>
              </a:tblGrid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226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3.5965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201924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44109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2569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156899"/>
                  </a:ext>
                </a:extLst>
              </a:tr>
            </a:tbl>
          </a:graphicData>
        </a:graphic>
      </p:graphicFrame>
      <p:pic>
        <p:nvPicPr>
          <p:cNvPr id="14" name="Segnaposto contenuto 13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FB155D86-9E00-26D3-245A-810B1AA72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67" y="1690688"/>
            <a:ext cx="6825204" cy="5040000"/>
          </a:xfrm>
        </p:spPr>
      </p:pic>
    </p:spTree>
    <p:extLst>
      <p:ext uri="{BB962C8B-B14F-4D97-AF65-F5344CB8AC3E}">
        <p14:creationId xmlns:p14="http://schemas.microsoft.com/office/powerpoint/2010/main" val="2516049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F658D-FBB7-5B05-4691-59964B1F5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88666121-0A59-DE53-ECF6-6063C505F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3606A52-395F-624E-B97C-F80C3CB2C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B94F56D-FECC-C9C4-A75F-6042060C8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70CEAD6-81C8-0A24-FABE-B4250F801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2D102980-21BE-56EB-EC77-5EA7C224E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3E14BC7B-A690-6C75-3855-7C66444108B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2 (F2A)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17EC96D-EC90-99DB-4F7F-AF9A883B37CE}"/>
              </a:ext>
            </a:extLst>
          </p:cNvPr>
          <p:cNvSpPr txBox="1"/>
          <p:nvPr/>
        </p:nvSpPr>
        <p:spPr>
          <a:xfrm>
            <a:off x="8114849" y="2877332"/>
            <a:ext cx="3238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Utilizzazione,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6D4C7E14-9568-B3B0-AAE7-CC0CCF498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216893"/>
              </p:ext>
            </p:extLst>
          </p:nvPr>
        </p:nvGraphicFramePr>
        <p:xfrm>
          <a:off x="8114849" y="3343449"/>
          <a:ext cx="3479742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240952042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15013965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796870319"/>
                    </a:ext>
                  </a:extLst>
                </a:gridCol>
              </a:tblGrid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226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201924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0.9586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44109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2569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0.99922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156899"/>
                  </a:ext>
                </a:extLst>
              </a:tr>
            </a:tbl>
          </a:graphicData>
        </a:graphic>
      </p:graphicFrame>
      <p:pic>
        <p:nvPicPr>
          <p:cNvPr id="14" name="Segnaposto contenuto 13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BFDE0B3E-03E9-1C01-8701-BFDE86C79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8" y="1690688"/>
            <a:ext cx="6820273" cy="5040000"/>
          </a:xfrm>
        </p:spPr>
      </p:pic>
    </p:spTree>
    <p:extLst>
      <p:ext uri="{BB962C8B-B14F-4D97-AF65-F5344CB8AC3E}">
        <p14:creationId xmlns:p14="http://schemas.microsoft.com/office/powerpoint/2010/main" val="3431960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77E5B-D7BF-23DD-5795-AAE3CCE2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8ED57C6D-46AB-18C8-43B2-828C1553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F4D9465C-7E7A-A2E4-1D44-61FA0FFC0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63CFBE-DB8E-F9EA-BCE8-FF4F46353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86DA868-91FE-84EA-499F-9D0CA5E3B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2EF13913-0982-77D2-3EC3-E9D901355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C0DEE393-25CA-7CD4-5D97-0428D45C57E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3 (SCALING)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68EBD4E-5893-4DFC-AF71-8CAB4B00D9C1}"/>
              </a:ext>
            </a:extLst>
          </p:cNvPr>
          <p:cNvSpPr txBox="1"/>
          <p:nvPr/>
        </p:nvSpPr>
        <p:spPr>
          <a:xfrm>
            <a:off x="8114849" y="3616762"/>
            <a:ext cx="35137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Medie delle metriche </a:t>
            </a:r>
            <a:r>
              <a:rPr lang="it-IT" sz="1600" dirty="0" err="1"/>
              <a:t>response</a:t>
            </a:r>
            <a:r>
              <a:rPr lang="it-IT" sz="1600" dirty="0"/>
              <a:t> time, </a:t>
            </a:r>
            <a:r>
              <a:rPr lang="it-IT" sz="1600" dirty="0" err="1"/>
              <a:t>population</a:t>
            </a:r>
            <a:r>
              <a:rPr lang="it-IT" sz="1600" dirty="0"/>
              <a:t>, </a:t>
            </a:r>
            <a:r>
              <a:rPr lang="it-IT" sz="1600" dirty="0" err="1"/>
              <a:t>waiting</a:t>
            </a:r>
            <a:r>
              <a:rPr lang="it-IT" sz="1600" dirty="0"/>
              <a:t> time e </a:t>
            </a:r>
            <a:r>
              <a:rPr lang="it-IT" sz="1600" dirty="0" err="1"/>
              <a:t>utilization</a:t>
            </a:r>
            <a:r>
              <a:rPr lang="it-IT" sz="1600" dirty="0"/>
              <a:t> del server B con scaling orizzontale. </a:t>
            </a:r>
          </a:p>
          <a:p>
            <a:r>
              <a:rPr lang="it-IT" sz="1600" dirty="0"/>
              <a:t>Parametro C (numero di job massimi per copia) che varia da 1 a 15.</a:t>
            </a:r>
            <a:endParaRPr lang="it-IT" sz="1400" dirty="0"/>
          </a:p>
        </p:txBody>
      </p:sp>
      <p:pic>
        <p:nvPicPr>
          <p:cNvPr id="13" name="Segnaposto contenuto 1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2FB7EAD7-7619-5399-E319-BDDDC59E6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8" y="1690688"/>
            <a:ext cx="7220869" cy="5040000"/>
          </a:xfrm>
        </p:spPr>
      </p:pic>
    </p:spTree>
    <p:extLst>
      <p:ext uri="{BB962C8B-B14F-4D97-AF65-F5344CB8AC3E}">
        <p14:creationId xmlns:p14="http://schemas.microsoft.com/office/powerpoint/2010/main" val="1348773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4B752-4F47-DC91-0120-0BF3EDE9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F1A6FE5F-A9D6-702F-3081-658DD21E2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70F19747-ED6D-049B-1353-8B8051634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734322B-A4F7-93D3-92A5-BA9777FB3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FA4DE7C-C9A9-668F-8B02-FDA08F670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86592CE5-368D-BB61-9DCF-8C19CD4F3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C1525DC0-4992-5823-3899-386EE4A3CF0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3 (SCALING)</a:t>
            </a:r>
          </a:p>
        </p:txBody>
      </p:sp>
      <p:pic>
        <p:nvPicPr>
          <p:cNvPr id="10" name="Segnaposto contenuto 9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AF543DA6-5D63-B55B-75D5-FB20442AE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9" y="1690688"/>
            <a:ext cx="7419790" cy="4396076"/>
          </a:xfr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3A9DF38-DE1C-083B-797B-6D334F880E4B}"/>
              </a:ext>
            </a:extLst>
          </p:cNvPr>
          <p:cNvSpPr txBox="1"/>
          <p:nvPr/>
        </p:nvSpPr>
        <p:spPr>
          <a:xfrm>
            <a:off x="8338486" y="1955858"/>
            <a:ext cx="3394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Numero di copie medie del server B in funzione del parametro C (numero job massimi per copia)</a:t>
            </a: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833A65EB-F3E5-0ECB-D725-B449B90C2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205783"/>
              </p:ext>
            </p:extLst>
          </p:nvPr>
        </p:nvGraphicFramePr>
        <p:xfrm>
          <a:off x="8338485" y="2884259"/>
          <a:ext cx="3394164" cy="2373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88">
                  <a:extLst>
                    <a:ext uri="{9D8B030D-6E8A-4147-A177-3AD203B41FA5}">
                      <a16:colId xmlns:a16="http://schemas.microsoft.com/office/drawing/2014/main" val="3324129543"/>
                    </a:ext>
                  </a:extLst>
                </a:gridCol>
                <a:gridCol w="1131388">
                  <a:extLst>
                    <a:ext uri="{9D8B030D-6E8A-4147-A177-3AD203B41FA5}">
                      <a16:colId xmlns:a16="http://schemas.microsoft.com/office/drawing/2014/main" val="3265703288"/>
                    </a:ext>
                  </a:extLst>
                </a:gridCol>
                <a:gridCol w="1131388">
                  <a:extLst>
                    <a:ext uri="{9D8B030D-6E8A-4147-A177-3AD203B41FA5}">
                      <a16:colId xmlns:a16="http://schemas.microsoft.com/office/drawing/2014/main" val="4264478656"/>
                    </a:ext>
                  </a:extLst>
                </a:gridCol>
              </a:tblGrid>
              <a:tr h="626523">
                <a:tc>
                  <a:txBody>
                    <a:bodyPr/>
                    <a:lstStyle/>
                    <a:p>
                      <a:r>
                        <a:rPr lang="it-IT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N. Copie 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591036"/>
                  </a:ext>
                </a:extLst>
              </a:tr>
              <a:tr h="349450">
                <a:tc>
                  <a:txBody>
                    <a:bodyPr/>
                    <a:lstStyle/>
                    <a:p>
                      <a:r>
                        <a:rPr lang="it-IT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1.4752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733273"/>
                  </a:ext>
                </a:extLst>
              </a:tr>
              <a:tr h="349450">
                <a:tc>
                  <a:txBody>
                    <a:bodyPr/>
                    <a:lstStyle/>
                    <a:p>
                      <a:r>
                        <a:rPr lang="it-IT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1.1460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384707"/>
                  </a:ext>
                </a:extLst>
              </a:tr>
              <a:tr h="349450">
                <a:tc>
                  <a:txBody>
                    <a:bodyPr/>
                    <a:lstStyle/>
                    <a:p>
                      <a:r>
                        <a:rPr lang="it-IT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1.0797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307496"/>
                  </a:ext>
                </a:extLst>
              </a:tr>
              <a:tr h="349450">
                <a:tc>
                  <a:txBody>
                    <a:bodyPr/>
                    <a:lstStyle/>
                    <a:p>
                      <a:r>
                        <a:rPr lang="it-IT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1.0709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78293"/>
                  </a:ext>
                </a:extLst>
              </a:tr>
              <a:tr h="349450">
                <a:tc>
                  <a:txBody>
                    <a:bodyPr/>
                    <a:lstStyle/>
                    <a:p>
                      <a:r>
                        <a:rPr lang="it-IT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1.0433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291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602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A7AFD-573A-FB1E-ADEC-01CBD7D2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E9543EA1-C683-BFFF-4945-8633B83BD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33A5BE3-A78D-122D-2117-E74E9E14E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9D5A07E-2A32-3176-6C4A-10B260C0D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D812387-FC38-89AF-09A5-3E6539E6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1AE55C25-15C8-7FF6-E865-C50A0F4A6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EFE571B-A217-45BE-7030-AFDDD5F06B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3 (SCALING)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2F0B04B-44AF-95D9-89E9-19380FFF4468}"/>
              </a:ext>
            </a:extLst>
          </p:cNvPr>
          <p:cNvSpPr txBox="1"/>
          <p:nvPr/>
        </p:nvSpPr>
        <p:spPr>
          <a:xfrm>
            <a:off x="8338488" y="2828835"/>
            <a:ext cx="290945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Tempo risposta medio, popolazione e </a:t>
            </a:r>
            <a:r>
              <a:rPr lang="it-IT" sz="1600" dirty="0" err="1"/>
              <a:t>waiting</a:t>
            </a:r>
            <a:r>
              <a:rPr lang="it-IT" sz="1600" dirty="0"/>
              <a:t> time medio del server B con parametro C in range 1-120.</a:t>
            </a:r>
          </a:p>
          <a:p>
            <a:endParaRPr lang="it-IT" sz="1600" dirty="0"/>
          </a:p>
          <a:p>
            <a:r>
              <a:rPr lang="it-IT" sz="1600" dirty="0"/>
              <a:t>Con C → ∞, stesso comportamento senza scaling orizzontale.</a:t>
            </a:r>
          </a:p>
        </p:txBody>
      </p:sp>
      <p:pic>
        <p:nvPicPr>
          <p:cNvPr id="13" name="Segnaposto contenuto 12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D6D75C5F-E605-3029-3396-6EBDCD897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7" y="1690688"/>
            <a:ext cx="6825204" cy="5040000"/>
          </a:xfrm>
        </p:spPr>
      </p:pic>
    </p:spTree>
    <p:extLst>
      <p:ext uri="{BB962C8B-B14F-4D97-AF65-F5344CB8AC3E}">
        <p14:creationId xmlns:p14="http://schemas.microsoft.com/office/powerpoint/2010/main" val="3193098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4C9A6-0683-9835-0D57-5E2B47584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DBD01E2B-5486-7C5C-5114-722698BA4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9EEF2753-A173-6D51-5366-9BE948E2D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61E4B66-40C3-5C7E-08CE-1A811C644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E1E57B1-9599-1FD6-896C-81974A741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D488EB12-796B-3D01-977A-C23730466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A78A88D3-8369-84C2-97F7-B2F898B6783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3 (SCALING)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B8A3AEF-A211-2558-F95D-4CC2D7EC7BD2}"/>
              </a:ext>
            </a:extLst>
          </p:cNvPr>
          <p:cNvSpPr txBox="1"/>
          <p:nvPr/>
        </p:nvSpPr>
        <p:spPr>
          <a:xfrm>
            <a:off x="7593725" y="1991776"/>
            <a:ext cx="4084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Tempo risposta medio con C = 9,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  <a:endParaRPr lang="it-IT" sz="1600" dirty="0"/>
          </a:p>
        </p:txBody>
      </p:sp>
      <p:pic>
        <p:nvPicPr>
          <p:cNvPr id="13" name="Segnaposto contenuto 12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645EA190-EE6C-36AB-5776-85B1565E9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8" y="1690688"/>
            <a:ext cx="6820273" cy="5040000"/>
          </a:xfrm>
        </p:spPr>
      </p:pic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EDFC89BB-75F4-735F-42F1-49BB8A54D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044262"/>
              </p:ext>
            </p:extLst>
          </p:nvPr>
        </p:nvGraphicFramePr>
        <p:xfrm>
          <a:off x="7896325" y="2430523"/>
          <a:ext cx="3479742" cy="1524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883392067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1727202300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408825230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603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2.5321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0.0859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6586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2.8813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0.0136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1587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4.4011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0.1049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296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14.8749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0.3069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03019"/>
                  </a:ext>
                </a:extLst>
              </a:tr>
            </a:tbl>
          </a:graphicData>
        </a:graphic>
      </p:graphicFrame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C45E7414-E026-781C-80EF-4F2DAD265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321290"/>
              </p:ext>
            </p:extLst>
          </p:nvPr>
        </p:nvGraphicFramePr>
        <p:xfrm>
          <a:off x="7874061" y="4769174"/>
          <a:ext cx="3479742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240952042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15013965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796870319"/>
                    </a:ext>
                  </a:extLst>
                </a:gridCol>
              </a:tblGrid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226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2.4481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0.0806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201924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18.969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1.579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44109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4.292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2569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30.606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1.730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156899"/>
                  </a:ext>
                </a:extLst>
              </a:tr>
            </a:tbl>
          </a:graphicData>
        </a:graphic>
      </p:graphicFrame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4183D78-71EF-6E48-09E6-2F9FCD2E0939}"/>
              </a:ext>
            </a:extLst>
          </p:cNvPr>
          <p:cNvSpPr txBox="1"/>
          <p:nvPr/>
        </p:nvSpPr>
        <p:spPr>
          <a:xfrm>
            <a:off x="8259073" y="4350997"/>
            <a:ext cx="270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Per riferimento, risultati F2A</a:t>
            </a:r>
          </a:p>
        </p:txBody>
      </p:sp>
    </p:spTree>
    <p:extLst>
      <p:ext uri="{BB962C8B-B14F-4D97-AF65-F5344CB8AC3E}">
        <p14:creationId xmlns:p14="http://schemas.microsoft.com/office/powerpoint/2010/main" val="3233220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BE495-8A5D-3129-DFAA-BC3FB8A15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0E2A83C5-FF47-2101-8172-ED3775F52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A3A18C6B-16A9-2D5F-3AEF-913A7F65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02A631-A5D7-0572-6ED2-CD660DEE8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16A73FF-D756-D41C-A9B8-247A6AB2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705B96C-3A71-8F20-B313-C94360AB5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BF50F922-D222-AE0C-7B37-5DC812A7BFD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3 (SCALING)</a:t>
            </a:r>
          </a:p>
        </p:txBody>
      </p:sp>
      <p:pic>
        <p:nvPicPr>
          <p:cNvPr id="13" name="Segnaposto contenuto 12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36B57571-6032-055E-09AC-D6539804E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7" y="1690688"/>
            <a:ext cx="6825204" cy="5040000"/>
          </a:xfr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4F8D4BA-F170-EE9D-7700-372B230D6253}"/>
              </a:ext>
            </a:extLst>
          </p:cNvPr>
          <p:cNvSpPr txBox="1"/>
          <p:nvPr/>
        </p:nvSpPr>
        <p:spPr>
          <a:xfrm>
            <a:off x="7593725" y="1991776"/>
            <a:ext cx="4084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Popolazione con C = 9,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  <a:endParaRPr lang="it-IT" sz="1600" dirty="0"/>
          </a:p>
        </p:txBody>
      </p: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9358BAD9-7C6F-9369-C2A9-EF519CF47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145865"/>
              </p:ext>
            </p:extLst>
          </p:nvPr>
        </p:nvGraphicFramePr>
        <p:xfrm>
          <a:off x="7896325" y="2430523"/>
          <a:ext cx="3479742" cy="1524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883392067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1727202300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408825230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603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9.1544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0.3249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6586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3.4645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1587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5.2969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0.1322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296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17.9075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0.3978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03019"/>
                  </a:ext>
                </a:extLst>
              </a:tr>
            </a:tbl>
          </a:graphicData>
        </a:graphic>
      </p:graphicFrame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B30B9C9-732A-E70E-19E5-C81B772DFD56}"/>
              </a:ext>
            </a:extLst>
          </p:cNvPr>
          <p:cNvSpPr txBox="1"/>
          <p:nvPr/>
        </p:nvSpPr>
        <p:spPr>
          <a:xfrm>
            <a:off x="8259073" y="4350997"/>
            <a:ext cx="270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Per riferimento, risultati F2A</a:t>
            </a:r>
          </a:p>
        </p:txBody>
      </p:sp>
      <p:graphicFrame>
        <p:nvGraphicFramePr>
          <p:cNvPr id="18" name="Tabella 17">
            <a:extLst>
              <a:ext uri="{FF2B5EF4-FFF2-40B4-BE49-F238E27FC236}">
                <a16:creationId xmlns:a16="http://schemas.microsoft.com/office/drawing/2014/main" id="{50F94625-1B4C-56D1-8B42-C47B47564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233511"/>
              </p:ext>
            </p:extLst>
          </p:nvPr>
        </p:nvGraphicFramePr>
        <p:xfrm>
          <a:off x="7874061" y="4769174"/>
          <a:ext cx="3479742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240952042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15013965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796870319"/>
                    </a:ext>
                  </a:extLst>
                </a:gridCol>
              </a:tblGrid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226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8.823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0.304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201924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22.831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1.931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44109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5.151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2569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36.801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2.132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156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637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97DB4-9F49-C641-E09E-813A8055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EAD307A-8BAE-7320-C939-F569FDB7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B742CEC-9F29-2FEC-2FC5-583F051D9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8A304B9-1462-DAEE-2AFC-7BBC8A68B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9FDF056-601F-4712-1923-2A9BDC68A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7FBE56FC-8655-E251-92DC-27FB3F6F6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E73DFBD-0076-8FF1-8AD2-025A7AD4012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3 (SCALING)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FCA2D7F-CEC9-B867-CCD5-5E3E54D4F73B}"/>
              </a:ext>
            </a:extLst>
          </p:cNvPr>
          <p:cNvSpPr txBox="1"/>
          <p:nvPr/>
        </p:nvSpPr>
        <p:spPr>
          <a:xfrm>
            <a:off x="7593725" y="1991776"/>
            <a:ext cx="4084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Utilizzazione con C = 9,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  <a:endParaRPr lang="it-IT" sz="1600" dirty="0"/>
          </a:p>
        </p:txBody>
      </p: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2888AA3A-EF30-EB93-99BD-3A727E067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162898"/>
              </p:ext>
            </p:extLst>
          </p:nvPr>
        </p:nvGraphicFramePr>
        <p:xfrm>
          <a:off x="7896325" y="2430523"/>
          <a:ext cx="3479742" cy="1524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883392067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1727202300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408825230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603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0.9018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6586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1587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296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0.99777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03019"/>
                  </a:ext>
                </a:extLst>
              </a:tr>
            </a:tbl>
          </a:graphicData>
        </a:graphic>
      </p:graphicFrame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C7EE55E-6069-B2B3-71C7-2A353B712337}"/>
              </a:ext>
            </a:extLst>
          </p:cNvPr>
          <p:cNvSpPr txBox="1"/>
          <p:nvPr/>
        </p:nvSpPr>
        <p:spPr>
          <a:xfrm>
            <a:off x="8259073" y="4350997"/>
            <a:ext cx="270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Per riferimento, risultati F2A</a:t>
            </a:r>
          </a:p>
        </p:txBody>
      </p:sp>
      <p:pic>
        <p:nvPicPr>
          <p:cNvPr id="11" name="Segnaposto contenuto 10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6B353E68-F3BF-FA95-14D8-EF6811456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8" y="1690688"/>
            <a:ext cx="6820273" cy="5040000"/>
          </a:xfrm>
        </p:spPr>
      </p:pic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30C4A662-B818-40B0-42A2-AF31575B5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320223"/>
              </p:ext>
            </p:extLst>
          </p:nvPr>
        </p:nvGraphicFramePr>
        <p:xfrm>
          <a:off x="7874061" y="4769174"/>
          <a:ext cx="3479742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240952042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15013965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796870319"/>
                    </a:ext>
                  </a:extLst>
                </a:gridCol>
              </a:tblGrid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226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201924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0.9586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44109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2569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0.99922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156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120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05E9D-60D1-1EE7-4A26-361D45E80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316DAC2F-2ABF-6B1E-2F59-599D7DD31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5D6E4788-830A-049C-3731-447892283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E4B9D70-126F-A551-C550-3A4611E99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E8F6410-F419-45F7-9DA2-46F3D4E70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8ACA0888-4199-AD8F-C0F1-8EB39C4E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AB448403-6900-1D68-9AD0-2F45C3427A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Risultati – Obiettivo 3 (SCALING)</a:t>
            </a:r>
          </a:p>
        </p:txBody>
      </p:sp>
      <p:pic>
        <p:nvPicPr>
          <p:cNvPr id="13" name="Segnaposto contenuto 12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33CB82E2-EB4F-9E5A-896D-157E76E19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8" y="1690688"/>
            <a:ext cx="6820273" cy="5040000"/>
          </a:xfr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C3C3875-B61D-B7C1-B4B1-F2A2962A8B74}"/>
              </a:ext>
            </a:extLst>
          </p:cNvPr>
          <p:cNvSpPr txBox="1"/>
          <p:nvPr/>
        </p:nvSpPr>
        <p:spPr>
          <a:xfrm>
            <a:off x="7593725" y="1991776"/>
            <a:ext cx="4084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Waiting</a:t>
            </a:r>
            <a:r>
              <a:rPr lang="it-IT" sz="1600" dirty="0"/>
              <a:t> time medio con C = 9, </a:t>
            </a:r>
            <a:r>
              <a:rPr lang="el-GR" sz="1600" dirty="0"/>
              <a:t>λ</a:t>
            </a:r>
            <a:r>
              <a:rPr lang="it-IT" sz="1600" dirty="0"/>
              <a:t> = 1.2 </a:t>
            </a:r>
            <a:r>
              <a:rPr lang="it-IT" sz="1400" dirty="0" err="1"/>
              <a:t>req</a:t>
            </a:r>
            <a:r>
              <a:rPr lang="it-IT" sz="1400" dirty="0"/>
              <a:t>/s</a:t>
            </a:r>
            <a:endParaRPr lang="it-IT" sz="1600" dirty="0"/>
          </a:p>
        </p:txBody>
      </p: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5B0CB4B9-DA21-EF8D-270D-63326071C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565227"/>
              </p:ext>
            </p:extLst>
          </p:nvPr>
        </p:nvGraphicFramePr>
        <p:xfrm>
          <a:off x="7896325" y="2430523"/>
          <a:ext cx="3479742" cy="121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883392067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1727202300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408825230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603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2.2821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0.0858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6586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2.0822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0.0121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1587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3.7008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0.1039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296881"/>
                  </a:ext>
                </a:extLst>
              </a:tr>
            </a:tbl>
          </a:graphicData>
        </a:graphic>
      </p:graphicFrame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EC73C4E-813B-2971-4A5F-6FEF44E9CF2B}"/>
              </a:ext>
            </a:extLst>
          </p:cNvPr>
          <p:cNvSpPr txBox="1"/>
          <p:nvPr/>
        </p:nvSpPr>
        <p:spPr>
          <a:xfrm>
            <a:off x="8259073" y="4350997"/>
            <a:ext cx="270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Per riferimento, risultati F2A</a:t>
            </a:r>
          </a:p>
        </p:txBody>
      </p:sp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3283976D-5F40-4BA9-82AC-1B478D841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302326"/>
              </p:ext>
            </p:extLst>
          </p:nvPr>
        </p:nvGraphicFramePr>
        <p:xfrm>
          <a:off x="7874061" y="4769174"/>
          <a:ext cx="3479742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9914">
                  <a:extLst>
                    <a:ext uri="{9D8B030D-6E8A-4147-A177-3AD203B41FA5}">
                      <a16:colId xmlns:a16="http://schemas.microsoft.com/office/drawing/2014/main" val="2240952042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15013965"/>
                    </a:ext>
                  </a:extLst>
                </a:gridCol>
                <a:gridCol w="1159914">
                  <a:extLst>
                    <a:ext uri="{9D8B030D-6E8A-4147-A177-3AD203B41FA5}">
                      <a16:colId xmlns:a16="http://schemas.microsoft.com/office/drawing/2014/main" val="2796870319"/>
                    </a:ext>
                  </a:extLst>
                </a:gridCol>
              </a:tblGrid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2261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2.1982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0.0804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201924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18.1697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1.5785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44109"/>
                  </a:ext>
                </a:extLst>
              </a:tr>
              <a:tr h="265112">
                <a:tc>
                  <a:txBody>
                    <a:bodyPr/>
                    <a:lstStyle/>
                    <a:p>
                      <a:r>
                        <a:rPr lang="it-IT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3.5933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+/-  0.0821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2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82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9F62A-3406-4BC8-D8B3-4BCF81E7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6014416F-04DB-8709-2848-9D482D4C6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56051CA6-F8DD-EA86-4CE4-80362C66F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8DCDFE3-7976-BBAE-9479-88F0DD39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AAF9888-74D5-0BE4-44F2-E5F194624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7DE2D5A5-293E-9B94-531D-98D2C8500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AFC9287C-3327-A7E2-266B-E362FB4CBDE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4000" dirty="0">
                <a:solidFill>
                  <a:srgbClr val="FFFFFF"/>
                </a:solidFill>
              </a:rPr>
              <a:t>Conclusioni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96A98DDC-7008-C739-B9B5-EF399F2036F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9400032" cy="3899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Lo scaling </a:t>
            </a:r>
            <a:r>
              <a:rPr lang="en-US" sz="2000" dirty="0" err="1">
                <a:solidFill>
                  <a:schemeClr val="tx1"/>
                </a:solidFill>
              </a:rPr>
              <a:t>orizzontale</a:t>
            </a:r>
            <a:r>
              <a:rPr lang="en-US" sz="2000" dirty="0">
                <a:solidFill>
                  <a:schemeClr val="tx1"/>
                </a:solidFill>
              </a:rPr>
              <a:t> è un buon </a:t>
            </a:r>
            <a:r>
              <a:rPr lang="en-US" sz="2000" dirty="0" err="1">
                <a:solidFill>
                  <a:schemeClr val="tx1"/>
                </a:solidFill>
              </a:rPr>
              <a:t>metodo</a:t>
            </a:r>
            <a:r>
              <a:rPr lang="en-US" sz="2000" dirty="0">
                <a:solidFill>
                  <a:schemeClr val="tx1"/>
                </a:solidFill>
              </a:rPr>
              <a:t> per </a:t>
            </a:r>
            <a:r>
              <a:rPr lang="en-US" sz="2000" dirty="0" err="1">
                <a:solidFill>
                  <a:schemeClr val="tx1"/>
                </a:solidFill>
              </a:rPr>
              <a:t>migliorare</a:t>
            </a:r>
            <a:r>
              <a:rPr lang="en-US" sz="2000" dirty="0">
                <a:solidFill>
                  <a:schemeClr val="tx1"/>
                </a:solidFill>
              </a:rPr>
              <a:t> le </a:t>
            </a:r>
            <a:r>
              <a:rPr lang="en-US" sz="2000" dirty="0" err="1">
                <a:solidFill>
                  <a:schemeClr val="tx1"/>
                </a:solidFill>
              </a:rPr>
              <a:t>prestazioni</a:t>
            </a:r>
            <a:r>
              <a:rPr lang="en-US" sz="2000" dirty="0">
                <a:solidFill>
                  <a:schemeClr val="tx1"/>
                </a:solidFill>
              </a:rPr>
              <a:t> del server B e del </a:t>
            </a:r>
            <a:r>
              <a:rPr lang="en-US" sz="2000" dirty="0" err="1">
                <a:solidFill>
                  <a:schemeClr val="tx1"/>
                </a:solidFill>
              </a:rPr>
              <a:t>sistema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complessivo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L’obiettivo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posto</a:t>
            </a:r>
            <a:r>
              <a:rPr lang="en-US" sz="2000" dirty="0">
                <a:solidFill>
                  <a:schemeClr val="tx1"/>
                </a:solidFill>
              </a:rPr>
              <a:t> per il </a:t>
            </a:r>
            <a:r>
              <a:rPr lang="en-US" sz="2000" dirty="0" err="1">
                <a:solidFill>
                  <a:schemeClr val="tx1"/>
                </a:solidFill>
              </a:rPr>
              <a:t>caso</a:t>
            </a:r>
            <a:r>
              <a:rPr lang="en-US" sz="2000" dirty="0">
                <a:solidFill>
                  <a:schemeClr val="tx1"/>
                </a:solidFill>
              </a:rPr>
              <a:t> di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però</a:t>
            </a:r>
            <a:r>
              <a:rPr lang="en-US" sz="2000" dirty="0">
                <a:solidFill>
                  <a:schemeClr val="tx1"/>
                </a:solidFill>
              </a:rPr>
              <a:t>, non pone </a:t>
            </a:r>
            <a:r>
              <a:rPr lang="en-US" sz="2000" dirty="0" err="1">
                <a:solidFill>
                  <a:schemeClr val="tx1"/>
                </a:solidFill>
              </a:rPr>
              <a:t>altri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vincoli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sulla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replicazione</a:t>
            </a:r>
            <a:r>
              <a:rPr lang="en-US" sz="2000" dirty="0">
                <a:solidFill>
                  <a:schemeClr val="tx1"/>
                </a:solidFill>
              </a:rPr>
              <a:t> del server B e </a:t>
            </a:r>
            <a:r>
              <a:rPr lang="en-US" sz="2000" dirty="0" err="1">
                <a:solidFill>
                  <a:schemeClr val="tx1"/>
                </a:solidFill>
              </a:rPr>
              <a:t>dunque</a:t>
            </a:r>
            <a:r>
              <a:rPr lang="en-US" sz="2000" dirty="0">
                <a:solidFill>
                  <a:schemeClr val="tx1"/>
                </a:solidFill>
              </a:rPr>
              <a:t> non è </a:t>
            </a:r>
            <a:r>
              <a:rPr lang="en-US" sz="2000" dirty="0" err="1">
                <a:solidFill>
                  <a:schemeClr val="tx1"/>
                </a:solidFill>
              </a:rPr>
              <a:t>possibile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individuare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dei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parametri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ottimali</a:t>
            </a:r>
            <a:r>
              <a:rPr lang="en-US" sz="2000" dirty="0">
                <a:solidFill>
                  <a:schemeClr val="tx1"/>
                </a:solidFill>
              </a:rPr>
              <a:t> per lo scaling </a:t>
            </a:r>
            <a:r>
              <a:rPr lang="en-US" sz="2000" dirty="0" err="1">
                <a:solidFill>
                  <a:schemeClr val="tx1"/>
                </a:solidFill>
              </a:rPr>
              <a:t>orizzontale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</a:rPr>
              <a:t>Possibili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estensioni</a:t>
            </a:r>
            <a:r>
              <a:rPr lang="en-US" sz="2000" dirty="0">
                <a:solidFill>
                  <a:schemeClr val="tx1"/>
                </a:solidFill>
              </a:rPr>
              <a:t> del </a:t>
            </a:r>
            <a:r>
              <a:rPr lang="en-US" sz="2000" dirty="0" err="1">
                <a:solidFill>
                  <a:schemeClr val="tx1"/>
                </a:solidFill>
              </a:rPr>
              <a:t>caso</a:t>
            </a:r>
            <a:r>
              <a:rPr lang="en-US" sz="2000" dirty="0">
                <a:solidFill>
                  <a:schemeClr val="tx1"/>
                </a:solidFill>
              </a:rPr>
              <a:t> di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possono</a:t>
            </a:r>
            <a:r>
              <a:rPr lang="en-US" sz="2000" dirty="0">
                <a:solidFill>
                  <a:schemeClr val="tx1"/>
                </a:solidFill>
              </a:rPr>
              <a:t> ricercare </a:t>
            </a:r>
            <a:r>
              <a:rPr lang="en-US" sz="2000" dirty="0" err="1">
                <a:solidFill>
                  <a:schemeClr val="tx1"/>
                </a:solidFill>
              </a:rPr>
              <a:t>parametri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ottimali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considerando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altri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vincoli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sul</a:t>
            </a:r>
            <a:r>
              <a:rPr lang="en-US" sz="2000" dirty="0">
                <a:solidFill>
                  <a:schemeClr val="tx1"/>
                </a:solidFill>
              </a:rPr>
              <a:t> server B.</a:t>
            </a:r>
          </a:p>
        </p:txBody>
      </p:sp>
    </p:spTree>
    <p:extLst>
      <p:ext uri="{BB962C8B-B14F-4D97-AF65-F5344CB8AC3E}">
        <p14:creationId xmlns:p14="http://schemas.microsoft.com/office/powerpoint/2010/main" val="1888875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A051338-E37D-45CC-885F-AE30C861C197}">
  <we:reference id="4b785c87-866c-4bad-85d8-5d1ae467ac9a" version="3.21.0.0" store="EXCatalog" storeType="EXCatalog"/>
  <we:alternateReferences>
    <we:reference id="WA104381909" version="3.21.0.0" store="it-IT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1778</TotalTime>
  <Words>1583</Words>
  <Application>Microsoft Office PowerPoint</Application>
  <PresentationFormat>Widescreen</PresentationFormat>
  <Paragraphs>404</Paragraphs>
  <Slides>31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Tema di Office</vt:lpstr>
      <vt:lpstr>Progetto PMCSN</vt:lpstr>
      <vt:lpstr>Agenda</vt:lpstr>
      <vt:lpstr>Descrizione Sistema</vt:lpstr>
      <vt:lpstr>Obiettivi dello studio</vt:lpstr>
      <vt:lpstr>Modello del Sistema</vt:lpstr>
      <vt:lpstr>Modello del Sistema</vt:lpstr>
      <vt:lpstr>Modello del Sistema – Event e Job</vt:lpstr>
      <vt:lpstr>Modello del Sistema – Scheduler e System</vt:lpstr>
      <vt:lpstr>Modello del Sistema – Node e LoadBalancer</vt:lpstr>
      <vt:lpstr>Modello del Sistema - Parametri</vt:lpstr>
      <vt:lpstr>Analisi Transitorio</vt:lpstr>
      <vt:lpstr>Analisi Transitorio – Modello Base</vt:lpstr>
      <vt:lpstr>Analisi Transitorio – Modello F2A</vt:lpstr>
      <vt:lpstr>Analisi Transitorio – Modello SCALING</vt:lpstr>
      <vt:lpstr>Design degli esperimenti</vt:lpstr>
      <vt:lpstr>Risultati – Obiettivo 1</vt:lpstr>
      <vt:lpstr>Risultati – Obiettivo 1</vt:lpstr>
      <vt:lpstr>Risultati – Obiettivo 1</vt:lpstr>
      <vt:lpstr>Risultati – Obiettivo 1</vt:lpstr>
      <vt:lpstr>Risultati – Obiettivo 2 (F2A)</vt:lpstr>
      <vt:lpstr>Risultati – Obiettivo 2 (F2A)</vt:lpstr>
      <vt:lpstr>Risultati – Obiettivo 2 (F2A)</vt:lpstr>
      <vt:lpstr>Risultati – Obiettivo 2 (F2A)</vt:lpstr>
      <vt:lpstr>Risultati – Obiettivo 3 (SCALING)</vt:lpstr>
      <vt:lpstr>Risultati – Obiettivo 3 (SCALING)</vt:lpstr>
      <vt:lpstr>Risultati – Obiettivo 3 (SCALING)</vt:lpstr>
      <vt:lpstr>Risultati – Obiettivo 3 (SCALING)</vt:lpstr>
      <vt:lpstr>Risultati – Obiettivo 3 (SCALING)</vt:lpstr>
      <vt:lpstr>Risultati – Obiettivo 3 (SCALING)</vt:lpstr>
      <vt:lpstr>Risultati – Obiettivo 3 (SCALING)</vt:lpstr>
      <vt:lpstr>Conclusioni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gianluca maccari</dc:creator>
  <cp:lastModifiedBy>gianluca maccari</cp:lastModifiedBy>
  <cp:revision>10</cp:revision>
  <dcterms:created xsi:type="dcterms:W3CDTF">2026-01-28T18:59:23Z</dcterms:created>
  <dcterms:modified xsi:type="dcterms:W3CDTF">2026-02-03T15:01:07Z</dcterms:modified>
</cp:coreProperties>
</file>